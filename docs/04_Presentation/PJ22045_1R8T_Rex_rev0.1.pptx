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6"/>
    <p:sldId id="272" r:id="rId5"/>
    <p:sldId id="273" r:id="rId4"/>
    <p:sldId id="274" r:id="rId3"/>
    <p:sldId id="275" r:id="rId2"/>
    <p:sldId id="276" r:id="rId27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6c63444-13da-5e27-155c-32cb4b703263}">
          <p14:sldIdLst>
            <p14:sldId id="256"/>
            <p14:sldId id="257"/>
          </p14:sldIdLst>
        </p14:section>
        <p14:section name="Architecture" id="{8ecb4c05-5462-28d5-43fc-083b2f6d6e67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Protocol" id="{ee21d822-9475-fb75-b7d8-63f75117b473}">
          <p14:sldIdLst>
            <p14:sldId id="265"/>
            <p14:sldId id="266"/>
            <p14:sldId id="267"/>
            <p14:sldId id="268"/>
            <p14:sldId id="269"/>
          </p14:sldIdLst>
        </p14:section>
        <p14:section name="Performance" id="{82e7cdfb-8bf8-0f87-29cd-cc30a65ccadd}">
          <p14:sldIdLst>
            <p14:sldId id="270"/>
          </p14:sldIdLst>
        </p14:section>
        <p14:section name="Board and build" id="{b7c1a543-64e6-d8a4-ba0c-6a9ec92ecb99}">
          <p14:sldIdLst>
            <p14:sldId id="271"/>
            <p14:sldId id="272"/>
            <p14:sldId id="273"/>
          </p14:sldIdLst>
        </p14:section>
        <p14:section name="Status" id="{9a90bfa0-02f4-9467-b3c2-d4074106e25e}">
          <p14:sldIdLst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slide" Target="slides/slide19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heme" Target="theme/theme1.xml"/><Relationship Id="rId2" Type="http://schemas.openxmlformats.org/officeDocument/2006/relationships/slide" Target="slides/slide20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6.xml"/><Relationship Id="rId11" Type="http://schemas.openxmlformats.org/officeDocument/2006/relationships/slide" Target="slides/slide5.xml"/><Relationship Id="rId24" Type="http://schemas.openxmlformats.org/officeDocument/2006/relationships/viewProps" Target="viewProps.xml"/><Relationship Id="rId5" Type="http://schemas.openxmlformats.org/officeDocument/2006/relationships/slide" Target="slides/slide17.xml"/><Relationship Id="rId15" Type="http://schemas.openxmlformats.org/officeDocument/2006/relationships/slide" Target="slides/slide9.xml"/><Relationship Id="rId23" Type="http://schemas.openxmlformats.org/officeDocument/2006/relationships/presProps" Target="presProps.xml"/><Relationship Id="rId28" Type="http://schemas.openxmlformats.org/officeDocument/2006/relationships/customXml" Target="../customXml/item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" Target="slides/slide18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notesMaster" Target="notesMasters/notesMaster1.xml"/><Relationship Id="rId27" Type="http://schemas.openxmlformats.org/officeDocument/2006/relationships/slide" Target="slides/slide21.xml"/><Relationship Id="rId30" Type="http://schemas.openxmlformats.org/officeDocument/2006/relationships/customXml" Target="../customXml/item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554480"/>
            <a:ext cx="11091672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spc="300" kern="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011680"/>
            <a:ext cx="1109167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154680"/>
            <a:ext cx="9601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/>
        </p:nvSpPr>
        <p:spPr>
          <a:xfrm>
            <a:off x="548640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jxense.com · 16 October 2026 · source: docs/（Rex rev0.1 文件 v0.2）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PJ22045 1R8T · Rex rev0.1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>
                <a:ea typeface="Microsoft JhengHei"/>
              </a:rPr>
              <a:t>REX REV0.1 · 2026-10-16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>
                <a:ea typeface="Microsoft JhengHei"/>
              </a:rPr>
              <a:t>PJ22045 1R8T Rex rev0.1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>
                <a:ea typeface="Microsoft JhengHei"/>
              </a:rPr>
              <a:t>一路 RFSoC ADC 訊號經 VU13P 廣播到 8 個 RFSoC DAC；z2 每個通道加上 Calibration 與 Gain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343400"/>
            <a:ext cx="3017520" cy="502920"/>
          </a:xfrm>
          <a:prstGeom prst="roundRect">
            <a:avLst>
              <a:gd name="adj" fmla="val 10000"/>
            </a:avLst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3017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4213D"/>
                </a:solidFill>
                <a:ea typeface="Microsoft JhengHei"/>
              </a:rPr>
              <a:t>8 × cal_plus_gain_control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4343400"/>
            <a:ext cx="2377440" cy="502920"/>
          </a:xfrm>
          <a:prstGeom prst="roundRect">
            <a:avLst>
              <a:gd name="adj" fmla="val 10000"/>
            </a:avLst>
          </a:prstGeom>
          <a:solidFill>
            <a:srgbClr val="3A4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39" y="434340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ea typeface="Microsoft JhengHei"/>
              </a:rPr>
              <a:t>NCO ±1.04 GHz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4343400"/>
            <a:ext cx="2377440" cy="502920"/>
          </a:xfrm>
          <a:prstGeom prst="roundRect">
            <a:avLst>
              <a:gd name="adj" fmla="val 10000"/>
            </a:avLst>
          </a:prstGeom>
          <a:solidFill>
            <a:srgbClr val="3A4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434340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ea typeface="Microsoft JhengHei"/>
              </a:rPr>
              <a:t>2.3 ~ 3.3 GHz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4343400"/>
            <a:ext cx="2377440" cy="502920"/>
          </a:xfrm>
          <a:prstGeom prst="roundRect">
            <a:avLst>
              <a:gd name="adj" fmla="val 10000"/>
            </a:avLst>
          </a:prstGeom>
          <a:solidFill>
            <a:srgbClr val="3A4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434340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ea typeface="Microsoft JhengHei"/>
              </a:rPr>
              <a:t>Timing met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>
                <a:ea typeface="Microsoft JhengHei"/>
              </a:rPr>
              <a:t>總覽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>
                <a:ea typeface="Microsoft JhengHei"/>
              </a:rPr>
              <a:t>rev0.1：z2 每個 DAC 前加上完整處理鏈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63040"/>
            <a:ext cx="2569464" cy="164592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1600200"/>
            <a:ext cx="2112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2B6CB0"/>
                </a:solidFill>
                <a:ea typeface="Microsoft JhengHei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359152"/>
            <a:ext cx="211226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4555"/>
                </a:solidFill>
                <a:ea typeface="Microsoft JhengHei"/>
              </a:rPr>
              <a:t>個 z2 通道，各自一份 cal_plus_gain_control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92424" y="1463040"/>
            <a:ext cx="2569464" cy="164592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21024" y="1600200"/>
            <a:ext cx="2112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2B6CB0"/>
                </a:solidFill>
                <a:ea typeface="Microsoft JhengHei"/>
              </a:rPr>
              <a:t>2.8 GHz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21024" y="2359152"/>
            <a:ext cx="211226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4555"/>
                </a:solidFill>
                <a:ea typeface="Microsoft JhengHei"/>
              </a:rPr>
              <a:t>RF 中心頻率（NCO ±1.04 GHz，頻段 2.3 ~ 3.3 GHz）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7" y="1463040"/>
            <a:ext cx="2569464" cy="164592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4807" y="1600200"/>
            <a:ext cx="2112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2F855A"/>
                </a:solidFill>
                <a:ea typeface="Microsoft JhengHei"/>
              </a:rPr>
              <a:t>0.000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4807" y="2359152"/>
            <a:ext cx="211226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4555"/>
                </a:solidFill>
                <a:ea typeface="Microsoft JhengHei"/>
              </a:rPr>
              <a:t>ns WNS · RFSoC_TX：timing met，0 failing endpoint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79992" y="1463040"/>
            <a:ext cx="2569464" cy="164592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08592" y="1600200"/>
            <a:ext cx="2112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2F855A"/>
                </a:solidFill>
                <a:ea typeface="Microsoft JhengHei"/>
              </a:rPr>
              <a:t>+0.063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08592" y="2359152"/>
            <a:ext cx="211226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4555"/>
                </a:solidFill>
                <a:ea typeface="Microsoft JhengHei"/>
              </a:rPr>
              <a:t>ns WNS · RFSoC_RX：timing met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548640" y="3383280"/>
          <a:ext cx="11091672" cy="1828800"/>
        </p:xfrm>
        <a:graphic>
          <a:graphicData uri="http://schemas.openxmlformats.org/drawingml/2006/table">
            <a:tbl>
              <a:tblPr firstRow="0" bandRow="0"/>
              <a:tblGrid>
                <a:gridCol w="1920240"/>
                <a:gridCol w="2240280"/>
                <a:gridCol w="5010912"/>
                <a:gridCol w="192024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板子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來源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Rex rev0.1 的修改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輸出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RFSoC_TX（z2）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dev 專案 Save Project 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8 × cal_plus_gain_control + system_reg_map；NCO ±1.04 GHz；PL + PS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bit / ltx / xsa / BOOT.bin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RFSoC_RX（z1）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rev0.12 source/47dr1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只改 NCO 0.84 → 1.04 GHz；補回 onebit_cdc_fifo；PL only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bit / ltx / xsa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VU13P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rev0.12 release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無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沿用 rev0.12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548640" y="5440680"/>
            <a:ext cx="110916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91C1C"/>
                </a:solidFill>
                <a:ea typeface="Microsoft JhengHei"/>
              </a:rPr>
              <a:t>全部尚未上板驗證。</a:t>
            </a:r>
            <a:r>
              <a:rPr sz="1300" b="0">
                <a:solidFill>
                  <a:srgbClr val="3A4555"/>
                </a:solidFill>
                <a:ea typeface="Microsoft JhengHei"/>
              </a:rPr>
              <a:t>RFSoC_TX 本版只驗證 IF 輸出端；Gain Control 中與 TRM 相關的功能（SR、TX / RX 模式、RXAGC）待 TRM 板上線後處理。三塊板 NCO 必須一致，不要與 rev0.11 / rev0.12 的 z1（0.84 GHz）混用。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>
                <a:ea typeface="Microsoft JhengHei"/>
              </a:rPr>
              <a:t>架構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>
                <a:ea typeface="Microsoft JhengHei"/>
              </a:rPr>
              <a:t>一塊 47DR 送、VU13P 廣播、一塊 47DR 收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508760"/>
            <a:ext cx="3017520" cy="3429000"/>
          </a:xfrm>
          <a:prstGeom prst="roundRect">
            <a:avLst>
              <a:gd name="adj" fmla="val 3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1691639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150">
                <a:solidFill>
                  <a:srgbClr val="F0A050"/>
                </a:solidFill>
                <a:ea typeface="Microsoft JhengHei"/>
              </a:rPr>
              <a:t>SOURCE · RFSoC_RX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1965960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ea typeface="Microsoft JhengHei"/>
              </a:rPr>
              <a:t>ZU47DR · z1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2560320"/>
            <a:ext cx="25603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DE3EC"/>
                </a:solidFill>
                <a:ea typeface="Microsoft JhengHei"/>
              </a:rPr>
              <a:t>•  ADC 00（m00/m01）→ 160 b + timestamp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DE3EC"/>
                </a:solidFill>
                <a:ea typeface="Microsoft JhengHei"/>
              </a:rPr>
              <a:t>•  Aurora X0Y1 core1（X0Y6-7）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DE3EC"/>
                </a:solidFill>
                <a:ea typeface="Microsoft JhengHei"/>
              </a:rPr>
              <a:t>•  其他 7 個 ADC 回送同編號 DAC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DE3EC"/>
                </a:solidFill>
                <a:ea typeface="Microsoft JhengHei"/>
              </a:rPr>
              <a:t>•  NCO +1.04 GHz（本版修改）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1508760"/>
            <a:ext cx="3017520" cy="3429000"/>
          </a:xfrm>
          <a:prstGeom prst="roundRect">
            <a:avLst>
              <a:gd name="adj" fmla="val 3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1691639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150">
                <a:solidFill>
                  <a:srgbClr val="8FA3BF"/>
                </a:solidFill>
                <a:ea typeface="Microsoft JhengHei"/>
              </a:rPr>
              <a:t>RELAY · 未修改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1965960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ea typeface="Microsoft JhengHei"/>
              </a:rPr>
              <a:t>VU13P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2560320"/>
            <a:ext cx="25603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DE3EC"/>
                </a:solidFill>
                <a:ea typeface="Microsoft JhengHei"/>
              </a:rPr>
              <a:t>•  RX X1Y8 core1（quad 228）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DE3EC"/>
                </a:solidFill>
                <a:ea typeface="Microsoft JhengHei"/>
              </a:rPr>
              <a:t>•  Broadcaster 1 → 8，無 tready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DE3EC"/>
                </a:solidFill>
                <a:ea typeface="Microsoft JhengHei"/>
              </a:rPr>
              <a:t>•  TX X1Y4 ~ X1Y7，core 0 + 1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DE3EC"/>
                </a:solidFill>
                <a:ea typeface="Microsoft JhengHei"/>
              </a:rPr>
              <a:t>•  沿用同事 rev0.12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95360" y="1508760"/>
            <a:ext cx="3044952" cy="3429000"/>
          </a:xfrm>
          <a:prstGeom prst="roundRect">
            <a:avLst>
              <a:gd name="adj" fmla="val 3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23960" y="1691639"/>
            <a:ext cx="2587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150">
                <a:solidFill>
                  <a:srgbClr val="F0A050"/>
                </a:solidFill>
                <a:ea typeface="Microsoft JhengHei"/>
              </a:rPr>
              <a:t>OUTPUT · RFSoC_TX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1965960"/>
            <a:ext cx="25877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ea typeface="Microsoft JhengHei"/>
              </a:rPr>
              <a:t>ZU47DR · z2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2560320"/>
            <a:ext cx="2587752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DE3EC"/>
                </a:solidFill>
                <a:ea typeface="Microsoft JhengHei"/>
              </a:rPr>
              <a:t>•  8 個 Aurora core，依 timestamp 對齊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DE3EC"/>
                </a:solidFill>
                <a:ea typeface="Microsoft JhengHei"/>
              </a:rPr>
              <a:t>•  8 × cal_plus_gain_control（新增）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DE3EC"/>
                </a:solidFill>
                <a:ea typeface="Microsoft JhengHei"/>
              </a:rPr>
              <a:t>•  Calibration + Power Fit + AGC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DE3EC"/>
                </a:solidFill>
                <a:ea typeface="Microsoft JhengHei"/>
              </a:rPr>
              <a:t>•  DAC s00 ~ s32，NCO −1.04 GHz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3611880" y="3154680"/>
            <a:ext cx="914400" cy="411480"/>
          </a:xfrm>
          <a:prstGeom prst="rightArrow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84448" y="274320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4213D"/>
                </a:solidFill>
                <a:ea typeface="Microsoft JhengHei"/>
              </a:rPr>
              <a:t>1 link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7635240" y="2743200"/>
            <a:ext cx="914400" cy="292608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ight Arrow 40"/>
          <p:cNvSpPr/>
          <p:nvPr/>
        </p:nvSpPr>
        <p:spPr>
          <a:xfrm>
            <a:off x="7635240" y="3154680"/>
            <a:ext cx="914400" cy="292608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ight Arrow 41"/>
          <p:cNvSpPr/>
          <p:nvPr/>
        </p:nvSpPr>
        <p:spPr>
          <a:xfrm>
            <a:off x="7635240" y="3566160"/>
            <a:ext cx="914400" cy="292608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89520" y="233172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4213D"/>
                </a:solidFill>
                <a:ea typeface="Microsoft JhengHei"/>
              </a:rPr>
              <a:t>8 links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166360"/>
            <a:ext cx="110916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07A1F"/>
                </a:solidFill>
                <a:ea typeface="Microsoft JhengHei"/>
              </a:rPr>
              <a:t>橘：</a:t>
            </a:r>
            <a:r>
              <a:rPr sz="1300" b="0">
                <a:solidFill>
                  <a:srgbClr val="3A4555"/>
                </a:solidFill>
                <a:ea typeface="Microsoft JhengHei"/>
              </a:rPr>
              <a:t>z1 ADC 資料（一條 2-lane Aurora）。</a:t>
            </a:r>
            <a:r>
              <a:rPr sz="1300" b="1">
                <a:solidFill>
                  <a:srgbClr val="2B6CB0"/>
                </a:solidFill>
                <a:ea typeface="Microsoft JhengHei"/>
              </a:rPr>
              <a:t>藍：</a:t>
            </a:r>
            <a:r>
              <a:rPr sz="1300" b="0">
                <a:solidFill>
                  <a:srgbClr val="3A4555"/>
                </a:solidFill>
                <a:ea typeface="Microsoft JhengHei"/>
              </a:rPr>
              <a:t>8 條 2-lane Aurora 送到 z2，內容相同。每條：Aurora 64B66B、Framing、2 × 25.625 Gb/s、156.25 MHz refclk。Aurora 傳輸與時間同步沿用同事設計（reference_rev0.12）。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>
                <a:ea typeface="Microsoft JhengHei"/>
              </a:rPr>
              <a:t>RFSOC_RX · Z1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>
                <a:ea typeface="Microsoft JhengHei"/>
              </a:rPr>
              <a:t>RFSoC_RX：只改 NCO，其餘與 rev0.12 相同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pic>
        <p:nvPicPr>
          <p:cNvPr id="26" name="Picture 25" descr="rx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11091672" cy="2286997"/>
          </a:xfrm>
          <a:prstGeom prst="rect">
            <a:avLst/>
          </a:prstGeom>
        </p:spPr>
      </p:pic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48640" y="3840480"/>
          <a:ext cx="6949440" cy="2011680"/>
        </p:xfrm>
        <a:graphic>
          <a:graphicData uri="http://schemas.openxmlformats.org/drawingml/2006/table">
            <a:tbl>
              <a:tblPr firstRow="0" bandRow="0"/>
              <a:tblGrid>
                <a:gridCol w="2011680"/>
                <a:gridCol w="2103120"/>
                <a:gridCol w="2834640"/>
              </a:tblGrid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項目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rev0.12 47dr1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RFSoC_RX（rev0.1）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RFDC ADC / DAC NCO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0.84 / −0.84 GHz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07A1F"/>
                          </a:solidFill>
                          <a:ea typeface="Microsoft JhengHei"/>
                        </a:rPr>
                        <a:t>1.04 / −1.04 GHz（與 z2 對齊）</a:t>
                      </a:r>
                    </a:p>
                  </a:txBody>
                  <a:tcPr marL="73152" marR="73152" marT="27432" marB="27432" anchor="ctr">
                    <a:solidFill>
                      <a:srgbClr val="FDF1E6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onebit_cdc_fifo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release 清理時遺失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補回（與 RFSoC_TX 同一份）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design_1_wrapper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release 沒附 .gen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build 腳本重新產生並設為 top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ip_repo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source/47dr1/ip_repo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hardware/ip_repo（專案內）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7772400" y="3840480"/>
            <a:ext cx="3867912" cy="201168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1000" y="4023360"/>
            <a:ext cx="3410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ea typeface="Microsoft JhengHei"/>
              </a:rPr>
              <a:t>Build 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4462272"/>
            <a:ext cx="3410712" cy="1280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WNS +0.063 / WHS +0.010 ns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0 critical warning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LUT 14.7 % / FF 10.1 % / BRAM 20.8 %（= 同事 z1）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PL only，沒有 PS 程式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>
                <a:ea typeface="Microsoft JhengHei"/>
              </a:rPr>
              <a:t>RFSOC_TX · Z2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>
                <a:ea typeface="Microsoft JhengHei"/>
              </a:rPr>
              <a:t>RFSoC_TX 頂層：同事設計 + 8 個新通道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pic>
        <p:nvPicPr>
          <p:cNvPr id="26" name="Picture 25" descr="tx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11091672" cy="2528506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548640" y="4206240"/>
            <a:ext cx="3566160" cy="196596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3891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ea typeface="Microsoft JhengHei"/>
              </a:rPr>
              <a:t>沿用（未修改）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828032"/>
            <a:ext cx="310896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Aurora container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hier_rx_x0y1 ~ 4（delay → FIFO → aligner）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hier_mts、timer_1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axi_delay、GPIO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15968" y="4206240"/>
            <a:ext cx="3566160" cy="196596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44568" y="43891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ea typeface="Microsoft JhengHei"/>
              </a:rPr>
              <a:t>新增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4568" y="4828032"/>
            <a:ext cx="310896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8 × cal_plus_gain_control（放頂層）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8 × rfdc_iq_combine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system_reg_map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vio_ext_inputs（暫時）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74152" y="4206240"/>
            <a:ext cx="3566160" cy="196596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02752" y="43891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ea typeface="Microsoft JhengHei"/>
              </a:rPr>
              <a:t>修改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4828032"/>
            <a:ext cx="310896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smartconnect 6 → 23 MI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ADC Outclk 30 → 240 MHz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NCO ±0.84 → ±1.04 GHz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補回 onebit_cdc_fifo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>
                <a:ea typeface="Microsoft JhengHei"/>
              </a:rPr>
              <a:t>RFSOC_TX · Z2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>
                <a:ea typeface="Microsoft JhengHei"/>
              </a:rPr>
              <a:t>8 個通道：Aurora 或本板 ADC → DAC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463040"/>
          <a:ext cx="11091670" cy="3127248"/>
        </p:xfrm>
        <a:graphic>
          <a:graphicData uri="http://schemas.openxmlformats.org/drawingml/2006/table">
            <a:tbl>
              <a:tblPr firstRow="0" bandRow="0"/>
              <a:tblGrid>
                <a:gridCol w="685800"/>
                <a:gridCol w="2743200"/>
                <a:gridCol w="1554480"/>
                <a:gridCol w="914400"/>
                <a:gridCol w="1371600"/>
                <a:gridCol w="1911095"/>
                <a:gridCol w="1911095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Ch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in_0（Aurora）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in_1（ADC）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DAC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adc_clk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Reg map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Gain BRAM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ch1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hier_rx_x0y2 / M_AXIS_C0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m00 / m01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s00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clk_adc0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0xA009_0000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0xA009_A000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ch2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hier_rx_x0y2 / M_AXIS_C1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m02 / m03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s02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clk_adc0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0xA009_1000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0xA009_C000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ch3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hier_rx_x0y1 / M_AXIS_C0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m10 / m11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s10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clk_adc1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0xA009_2000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0xA009_E000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ch4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hier_rx_x0y1 / M_AXIS_C1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m12 / m13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s12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clk_adc1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0xA009_3000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0xA00A_0000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ch5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hier_rx_x0y3 / M_AXIS_C0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m20 / m21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s20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clk_adc2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0xA009_4000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0xA00A_2000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ch6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hier_rx_x0y3 / M_AXIS_C1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m22 / m23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s22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clk_adc2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0xA009_5000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0xA00A_4000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ch7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hier_rx_x0y4 / M_AXIS_C0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m30 / m31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s30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clk_adc3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0xA009_6000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0xA00A_6000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ch8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hier_rx_x0y4 / M_AXIS_C1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m32 / m33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s32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clk_adc3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0xA009_7000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0xA00A_8000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937760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ea typeface="Microsoft JhengHei"/>
              </a:rPr>
              <a:t>資料格式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376672"/>
            <a:ext cx="498348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160-bit AXIS：每拍 5 個複數 sample，每個 {Q[15:0], I[15:0]}；256 MHz = 1.28 GSPS。DAC 對應與同事原設計相同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4754880"/>
            <a:ext cx="5440680" cy="146304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4937760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ea typeface="Microsoft JhengHei"/>
              </a:rPr>
              <a:t>為什麼不包 hierarchy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5376672"/>
            <a:ext cx="498348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同事 hier_rx 的 M_AXIS_C0/C1 是 Monitor mode；包成 hierarchy 後新 pin 也變 Monitor，Aurora 資料不會接上（validate 不報錯）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>
                <a:ea typeface="Microsoft JhengHei"/>
              </a:rPr>
              <a:t>處理鏈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>
                <a:ea typeface="Microsoft JhengHei"/>
              </a:rPr>
              <a:t>一個通道：從輸入到 DAC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48640" y="1417320"/>
            <a:ext cx="11091672" cy="18288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14630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B6CB0"/>
                </a:solidFill>
                <a:ea typeface="Microsoft JhengHei"/>
              </a:rPr>
              <a:t>clk = FPGA_clk 256 MHz · 160 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1874519"/>
            <a:ext cx="84124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14213D"/>
                </a:solidFill>
                <a:ea typeface="Microsoft JhengHei"/>
              </a:rPr>
              <a:t>in_0 / in_1</a:t>
            </a:r>
          </a:p>
          <a:p>
            <a:pPr algn="ctr"/>
            <a:r>
              <a:rPr sz="800">
                <a:solidFill>
                  <a:srgbClr val="3A4555"/>
                </a:solidFill>
                <a:ea typeface="Microsoft JhengHei"/>
              </a:rPr>
              <a:t>Aurora /</a:t>
            </a:r>
          </a:p>
          <a:p>
            <a:pPr algn="ctr"/>
            <a:r>
              <a:rPr sz="800">
                <a:solidFill>
                  <a:srgbClr val="3A4555"/>
                </a:solidFill>
                <a:ea typeface="Microsoft JhengHei"/>
              </a:rPr>
              <a:t>本板 ADC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389888" y="2354580"/>
            <a:ext cx="183794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573682" y="1874519"/>
            <a:ext cx="841248" cy="960120"/>
          </a:xfrm>
          <a:prstGeom prst="roundRect">
            <a:avLst>
              <a:gd name="adj" fmla="val 6000"/>
            </a:avLst>
          </a:prstGeom>
          <a:solidFill>
            <a:srgbClr val="F0A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14213D"/>
                </a:solidFill>
                <a:ea typeface="Microsoft JhengHei"/>
              </a:rPr>
              <a:t>Source Mux</a:t>
            </a:r>
          </a:p>
          <a:p>
            <a:pPr algn="ctr"/>
            <a:r>
              <a:rPr sz="800">
                <a:solidFill>
                  <a:srgbClr val="14213D"/>
                </a:solidFill>
                <a:ea typeface="Microsoft JhengHei"/>
              </a:rPr>
              <a:t>mem39</a:t>
            </a:r>
          </a:p>
          <a:p>
            <a:pPr algn="ctr"/>
            <a:r>
              <a:rPr sz="800">
                <a:solidFill>
                  <a:srgbClr val="14213D"/>
                </a:solidFill>
                <a:ea typeface="Microsoft JhengHei"/>
              </a:rPr>
              <a:t>0 clk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414930" y="2354580"/>
            <a:ext cx="183794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598724" y="1874519"/>
            <a:ext cx="841248" cy="960120"/>
          </a:xfrm>
          <a:prstGeom prst="roundRect">
            <a:avLst>
              <a:gd name="adj" fmla="val 6000"/>
            </a:avLst>
          </a:prstGeom>
          <a:solidFill>
            <a:srgbClr val="8FA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14213D"/>
                </a:solidFill>
                <a:ea typeface="Microsoft JhengHei"/>
              </a:rPr>
              <a:t>bypass</a:t>
            </a:r>
          </a:p>
          <a:p>
            <a:pPr algn="ctr"/>
            <a:r>
              <a:rPr sz="800">
                <a:solidFill>
                  <a:srgbClr val="14213D"/>
                </a:solidFill>
                <a:ea typeface="Microsoft JhengHei"/>
              </a:rPr>
              <a:t>mem38</a:t>
            </a:r>
          </a:p>
          <a:p>
            <a:pPr algn="ctr"/>
            <a:r>
              <a:rPr sz="800">
                <a:solidFill>
                  <a:srgbClr val="14213D"/>
                </a:solidFill>
                <a:ea typeface="Microsoft JhengHei"/>
              </a:rPr>
              <a:t>0 clk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439972" y="2354580"/>
            <a:ext cx="183795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623767" y="1874519"/>
            <a:ext cx="841248" cy="960120"/>
          </a:xfrm>
          <a:prstGeom prst="roundRect">
            <a:avLst>
              <a:gd name="adj" fmla="val 6000"/>
            </a:avLst>
          </a:prstGeom>
          <a:solidFill>
            <a:srgbClr val="8FA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14213D"/>
                </a:solidFill>
                <a:ea typeface="Microsoft JhengHei"/>
              </a:rPr>
              <a:t>split</a:t>
            </a:r>
          </a:p>
          <a:p>
            <a:pPr algn="ctr"/>
            <a:r>
              <a:rPr sz="800">
                <a:solidFill>
                  <a:srgbClr val="14213D"/>
                </a:solidFill>
                <a:ea typeface="Microsoft JhengHei"/>
              </a:rPr>
              <a:t>I / Q</a:t>
            </a:r>
          </a:p>
          <a:p>
            <a:pPr algn="ctr"/>
            <a:r>
              <a:rPr sz="800">
                <a:solidFill>
                  <a:srgbClr val="14213D"/>
                </a:solidFill>
                <a:ea typeface="Microsoft JhengHei"/>
              </a:rPr>
              <a:t>0 clk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465015" y="2354580"/>
            <a:ext cx="183794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648809" y="1874519"/>
            <a:ext cx="841248" cy="96012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Microsoft JhengHei"/>
              </a:rPr>
              <a:t>FIR</a:t>
            </a:r>
          </a:p>
          <a:p>
            <a:pPr algn="ctr"/>
            <a:r>
              <a:rPr sz="800">
                <a:solidFill>
                  <a:srgbClr val="C9D3E0"/>
                </a:solidFill>
                <a:ea typeface="Microsoft JhengHei"/>
              </a:rPr>
              <a:t>16-tap</a:t>
            </a:r>
          </a:p>
          <a:p>
            <a:pPr algn="ctr"/>
            <a:r>
              <a:rPr sz="800">
                <a:solidFill>
                  <a:srgbClr val="C9D3E0"/>
                </a:solidFill>
                <a:ea typeface="Microsoft JhengHei"/>
              </a:rPr>
              <a:t>9 clk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90057" y="2354580"/>
            <a:ext cx="183795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673852" y="1874519"/>
            <a:ext cx="841248" cy="960120"/>
          </a:xfrm>
          <a:prstGeom prst="roundRect">
            <a:avLst>
              <a:gd name="adj" fmla="val 6000"/>
            </a:avLst>
          </a:prstGeom>
          <a:solidFill>
            <a:srgbClr val="8FA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14213D"/>
                </a:solidFill>
                <a:ea typeface="Microsoft JhengHei"/>
              </a:rPr>
              <a:t>combine</a:t>
            </a:r>
          </a:p>
          <a:p>
            <a:pPr algn="ctr"/>
            <a:r>
              <a:rPr sz="800">
                <a:solidFill>
                  <a:srgbClr val="14213D"/>
                </a:solidFill>
                <a:ea typeface="Microsoft JhengHei"/>
              </a:rPr>
              <a:t>I/Q → 160 b</a:t>
            </a:r>
          </a:p>
          <a:p>
            <a:pPr algn="ctr"/>
            <a:r>
              <a:rPr sz="800">
                <a:solidFill>
                  <a:srgbClr val="14213D"/>
                </a:solidFill>
                <a:ea typeface="Microsoft JhengHei"/>
              </a:rPr>
              <a:t>1 clk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515100" y="2354580"/>
            <a:ext cx="183794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698894" y="1874519"/>
            <a:ext cx="841248" cy="96012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Microsoft JhengHei"/>
              </a:rPr>
              <a:t>Delay</a:t>
            </a:r>
          </a:p>
          <a:p>
            <a:pPr algn="ctr"/>
            <a:r>
              <a:rPr sz="800">
                <a:solidFill>
                  <a:srgbClr val="C9D3E0"/>
                </a:solidFill>
                <a:ea typeface="Microsoft JhengHei"/>
              </a:rPr>
              <a:t>mem17/18</a:t>
            </a:r>
          </a:p>
          <a:p>
            <a:pPr algn="ctr"/>
            <a:r>
              <a:rPr sz="800">
                <a:solidFill>
                  <a:srgbClr val="C9D3E0"/>
                </a:solidFill>
                <a:ea typeface="Microsoft JhengHei"/>
              </a:rPr>
              <a:t>1 + coarse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540142" y="2354580"/>
            <a:ext cx="183794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723936" y="1874519"/>
            <a:ext cx="841248" cy="96012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Microsoft JhengHei"/>
              </a:rPr>
              <a:t>Phase</a:t>
            </a:r>
          </a:p>
          <a:p>
            <a:pPr algn="ctr"/>
            <a:r>
              <a:rPr sz="800">
                <a:solidFill>
                  <a:srgbClr val="C9D3E0"/>
                </a:solidFill>
                <a:ea typeface="Microsoft JhengHei"/>
              </a:rPr>
              <a:t>5 × CORDIC</a:t>
            </a:r>
          </a:p>
          <a:p>
            <a:pPr algn="ctr"/>
            <a:r>
              <a:rPr sz="800">
                <a:solidFill>
                  <a:srgbClr val="C9D3E0"/>
                </a:solidFill>
                <a:ea typeface="Microsoft JhengHei"/>
              </a:rPr>
              <a:t>mem19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565184" y="2354580"/>
            <a:ext cx="183795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8748979" y="1874519"/>
            <a:ext cx="841248" cy="96012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Microsoft JhengHei"/>
              </a:rPr>
              <a:t>Gain</a:t>
            </a:r>
          </a:p>
          <a:p>
            <a:pPr algn="ctr"/>
            <a:r>
              <a:rPr sz="800">
                <a:solidFill>
                  <a:srgbClr val="C9D3E0"/>
                </a:solidFill>
                <a:ea typeface="Microsoft JhengHei"/>
              </a:rPr>
              <a:t>BRAM 表</a:t>
            </a:r>
          </a:p>
          <a:p>
            <a:pPr algn="ctr"/>
            <a:r>
              <a:rPr sz="800">
                <a:solidFill>
                  <a:srgbClr val="C9D3E0"/>
                </a:solidFill>
                <a:ea typeface="Microsoft JhengHei"/>
              </a:rPr>
              <a:t>4 clk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590227" y="2354580"/>
            <a:ext cx="183794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9774021" y="1874519"/>
            <a:ext cx="841248" cy="960120"/>
          </a:xfrm>
          <a:prstGeom prst="roundRect">
            <a:avLst>
              <a:gd name="adj" fmla="val 6000"/>
            </a:avLst>
          </a:prstGeom>
          <a:solidFill>
            <a:srgbClr val="8FA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14213D"/>
                </a:solidFill>
                <a:ea typeface="Microsoft JhengHei"/>
              </a:rPr>
              <a:t>bypass mux</a:t>
            </a:r>
          </a:p>
          <a:p>
            <a:pPr algn="ctr"/>
            <a:r>
              <a:rPr sz="800">
                <a:solidFill>
                  <a:srgbClr val="14213D"/>
                </a:solidFill>
                <a:ea typeface="Microsoft JhengHei"/>
              </a:rPr>
              <a:t>mem38</a:t>
            </a:r>
          </a:p>
          <a:p>
            <a:pPr algn="ctr"/>
            <a:r>
              <a:rPr sz="800">
                <a:solidFill>
                  <a:srgbClr val="14213D"/>
                </a:solidFill>
                <a:ea typeface="Microsoft JhengHei"/>
              </a:rPr>
              <a:t>0 clk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615269" y="2354580"/>
            <a:ext cx="183795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0799064" y="1874519"/>
            <a:ext cx="84124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14213D"/>
                </a:solidFill>
                <a:ea typeface="Microsoft JhengHei"/>
              </a:rPr>
              <a:t>DAC</a:t>
            </a:r>
          </a:p>
          <a:p>
            <a:pPr algn="ctr"/>
            <a:r>
              <a:rPr sz="800">
                <a:solidFill>
                  <a:srgbClr val="3A4555"/>
                </a:solidFill>
                <a:ea typeface="Microsoft JhengHei"/>
              </a:rPr>
              <a:t>×3 interp</a:t>
            </a:r>
          </a:p>
          <a:p>
            <a:pPr algn="ctr"/>
            <a:r>
              <a:rPr sz="800">
                <a:solidFill>
                  <a:srgbClr val="3A4555"/>
                </a:solidFill>
                <a:ea typeface="Microsoft JhengHei"/>
              </a:rPr>
              <a:t>−1.04 GHz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23767" y="3429000"/>
            <a:ext cx="6991502" cy="914400"/>
          </a:xfrm>
          <a:prstGeom prst="rect">
            <a:avLst/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31689" y="34564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7A1F"/>
                </a:solidFill>
                <a:ea typeface="Microsoft JhengHei"/>
              </a:rPr>
              <a:t>adc_clk 240 MHz（agc_emu）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623767" y="3703320"/>
            <a:ext cx="1645920" cy="566928"/>
          </a:xfrm>
          <a:prstGeom prst="roundRect">
            <a:avLst>
              <a:gd name="adj" fmla="val 6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Microsoft JhengHei"/>
              </a:rPr>
              <a:t>power_fit_top</a:t>
            </a:r>
          </a:p>
          <a:p>
            <a:pPr algn="ctr"/>
            <a:r>
              <a:rPr sz="800">
                <a:solidFill>
                  <a:srgbClr val="E3E8EF"/>
                </a:solidFill>
                <a:ea typeface="Microsoft JhengHei"/>
              </a:rPr>
              <a:t>pf / goal_rel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544007" y="3703320"/>
            <a:ext cx="2194560" cy="566928"/>
          </a:xfrm>
          <a:prstGeom prst="roundRect">
            <a:avLst>
              <a:gd name="adj" fmla="val 6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Microsoft JhengHei"/>
              </a:rPr>
              <a:t>agc_emu</a:t>
            </a:r>
          </a:p>
          <a:p>
            <a:pPr algn="ctr"/>
            <a:r>
              <a:rPr sz="800">
                <a:solidFill>
                  <a:srgbClr val="E3E8EF"/>
                </a:solidFill>
                <a:ea typeface="Microsoft JhengHei"/>
              </a:rPr>
              <a:t>TXAGC · RXAGC · SR · sync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748979" y="3703320"/>
            <a:ext cx="841248" cy="566928"/>
          </a:xfrm>
          <a:prstGeom prst="roundRect">
            <a:avLst>
              <a:gd name="adj" fmla="val 6000"/>
            </a:avLst>
          </a:prstGeom>
          <a:solidFill>
            <a:srgbClr val="8FA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14213D"/>
                </a:solidFill>
                <a:ea typeface="Microsoft JhengHei"/>
              </a:rPr>
              <a:t>index mux</a:t>
            </a:r>
          </a:p>
          <a:p>
            <a:pPr algn="ctr"/>
            <a:r>
              <a:rPr sz="800">
                <a:solidFill>
                  <a:srgbClr val="14213D"/>
                </a:solidFill>
                <a:ea typeface="Microsoft JhengHei"/>
              </a:rPr>
              <a:t>mem20 / 21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044391" y="2834640"/>
            <a:ext cx="0" cy="868680"/>
          </a:xfrm>
          <a:prstGeom prst="line">
            <a:avLst/>
          </a:prstGeom>
          <a:ln w="190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269687" y="3986784"/>
            <a:ext cx="274320" cy="0"/>
          </a:xfrm>
          <a:prstGeom prst="line">
            <a:avLst/>
          </a:prstGeom>
          <a:ln w="190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738567" y="3986784"/>
            <a:ext cx="1010412" cy="0"/>
          </a:xfrm>
          <a:prstGeom prst="line">
            <a:avLst/>
          </a:prstGeom>
          <a:ln w="190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169603" y="2834640"/>
            <a:ext cx="0" cy="868680"/>
          </a:xfrm>
          <a:prstGeom prst="line">
            <a:avLst/>
          </a:prstGeom>
          <a:ln w="190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019348" y="2834640"/>
            <a:ext cx="0" cy="292608"/>
          </a:xfrm>
          <a:prstGeom prst="line">
            <a:avLst/>
          </a:prstGeom>
          <a:ln w="15875">
            <a:solidFill>
              <a:srgbClr val="8FA3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019348" y="3127248"/>
            <a:ext cx="7175297" cy="0"/>
          </a:xfrm>
          <a:prstGeom prst="line">
            <a:avLst/>
          </a:prstGeom>
          <a:ln w="15875">
            <a:solidFill>
              <a:srgbClr val="8FA3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0194645" y="2834640"/>
            <a:ext cx="0" cy="292608"/>
          </a:xfrm>
          <a:prstGeom prst="line">
            <a:avLst/>
          </a:prstGeom>
          <a:ln w="15875">
            <a:solidFill>
              <a:srgbClr val="8FA3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0688421" y="3017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A4555"/>
                </a:solidFill>
                <a:ea typeface="Microsoft JhengHei"/>
              </a:rPr>
              <a:t>mem38 = 1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48640" y="4572000"/>
            <a:ext cx="3566160" cy="164592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7240" y="47548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ea typeface="Microsoft JhengHei"/>
              </a:rPr>
              <a:t>開機預設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7240" y="5193792"/>
            <a:ext cx="3108960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mem39 = 0（Aurora）、mem38 = 0（完整處理）；FIR = impulse（純延遲 7 sample）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315968" y="4572000"/>
            <a:ext cx="3566160" cy="164592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44568" y="47548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ea typeface="Microsoft JhengHei"/>
              </a:rPr>
              <a:t>固定延遲 ≈ 150 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44568" y="5193792"/>
            <a:ext cx="3108960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(17 + L_c + coarse) clk + (fractional + FIR group delay) sample；CORDIC L_c 待確認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74152" y="4572000"/>
            <a:ext cx="3566160" cy="164592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02752" y="47548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ea typeface="Microsoft JhengHei"/>
              </a:rPr>
              <a:t>8 通道相同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02752" y="5193792"/>
            <a:ext cx="3108960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RTL 與 IP 設定相同；通道間差異來自 Aurora / 類比鏈路，由 Delay / Phase / Gain 補償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>
                <a:ea typeface="Microsoft JhengHei"/>
              </a:rPr>
              <a:t>SIGNAL SOURCE MUX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>
                <a:ea typeface="Microsoft JhengHei"/>
              </a:rPr>
              <a:t>mem39 選來源，mem38 選要不要處理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463040"/>
          <a:ext cx="6949440" cy="2514600"/>
        </p:xfrm>
        <a:graphic>
          <a:graphicData uri="http://schemas.openxmlformats.org/drawingml/2006/table">
            <a:tbl>
              <a:tblPr firstRow="0" bandRow="0"/>
              <a:tblGrid>
                <a:gridCol w="914400"/>
                <a:gridCol w="914400"/>
                <a:gridCol w="3017520"/>
                <a:gridCol w="2103120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mem39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mem38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DAC 輸出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用途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07A1F"/>
                          </a:solidFill>
                          <a:ea typeface="Microsoft JhengHe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DF1E6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07A1F"/>
                          </a:solidFill>
                          <a:ea typeface="Microsoft JhengHe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DF1E6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07A1F"/>
                          </a:solidFill>
                          <a:ea typeface="Microsoft JhengHei"/>
                        </a:rPr>
                        <a:t>Aurora → FIR → Delay → Phase → Gain</a:t>
                      </a:r>
                    </a:p>
                  </a:txBody>
                  <a:tcPr marL="73152" marR="73152" marT="27432" marB="27432" anchor="ctr">
                    <a:solidFill>
                      <a:srgbClr val="FDF1E6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07A1F"/>
                          </a:solidFill>
                          <a:ea typeface="Microsoft JhengHei"/>
                        </a:rPr>
                        <a:t>開機預設；正常運作</a:t>
                      </a:r>
                    </a:p>
                  </a:txBody>
                  <a:tcPr marL="73152" marR="73152" marT="27432" marB="27432" anchor="ctr">
                    <a:solidFill>
                      <a:srgbClr val="FDF1E6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Aurora 原樣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= rev0.12「Aurora 直接送 DAC」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本板 ADC → FIR → Delay → Phase → Gain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本板 loopback 量測 / 校正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本板 ADC 原樣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量 RFDC ADC → DAC 原始通道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48640" y="4160520"/>
            <a:ext cx="6949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A4555"/>
                </a:solidFill>
                <a:ea typeface="Microsoft JhengHei"/>
              </a:rPr>
              <a:t>mem38 = 1 時正常路徑照常運作：Power Fit / AGC / status snapshot 仍有效，可在 bypass 下觀察 pf 與 TXAGC。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3A4555"/>
                </a:solidFill>
                <a:ea typeface="Microsoft JhengHei"/>
              </a:rPr>
              <a:t>XSDB：reg_ch N → reg_wr signal_source_select 1（本板 ADC）/ reg_wr bypass_axis_iq 1（直通）。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1463040"/>
            <a:ext cx="3867912" cy="146304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1000" y="1645920"/>
            <a:ext cx="3410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ea typeface="Microsoft JhengHei"/>
              </a:rPr>
              <a:t>純組合邏輯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2084832"/>
            <a:ext cx="3410712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0 latency、每通道約 90 ~ 130 LUT、0 FF；沒選到的一路 tready = 1，資料丟棄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3108960"/>
            <a:ext cx="3867912" cy="146304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01000" y="3291840"/>
            <a:ext cx="3410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ea typeface="Microsoft JhengHei"/>
              </a:rPr>
              <a:t>切換暫態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3730752"/>
            <a:ext cx="3410712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約一個處理 latency 的期間是兩個來源混合；沒有 flush / mute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4754880"/>
            <a:ext cx="3867912" cy="146304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01000" y="4937760"/>
            <a:ext cx="3410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ea typeface="Microsoft JhengHei"/>
              </a:rPr>
              <a:t>與 rev0.12 不同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5376672"/>
            <a:ext cx="3410712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rev0.12 的 Aurora 直接送 DAC；本版預設會經過處理，要恢復直通請設 mem38 =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>
                <a:ea typeface="Microsoft JhengHei"/>
              </a:rPr>
              <a:t>CALIBRATION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>
                <a:ea typeface="Microsoft JhengHei"/>
              </a:rPr>
              <a:t>FIR、Delay、Phase、Gain 四級校正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63040"/>
            <a:ext cx="2567178" cy="292608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1645920"/>
            <a:ext cx="21099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100">
                <a:solidFill>
                  <a:srgbClr val="E07A1F"/>
                </a:solidFill>
                <a:ea typeface="Microsoft JhengHei"/>
              </a:rPr>
              <a:t>mem0 ~ 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1947672"/>
            <a:ext cx="21099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4213D"/>
                </a:solidFill>
                <a:ea typeface="Microsoft JhengHei"/>
              </a:rPr>
              <a:t>In-band FIR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2441448"/>
            <a:ext cx="2109978" cy="1837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16-tap complex FIR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係數 S0.15（0x7FFF ≈ 1.0）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9 clk + group delay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開機 impulse，待上板量測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90138" y="1463040"/>
            <a:ext cx="2567178" cy="292608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8738" y="1645920"/>
            <a:ext cx="21099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100">
                <a:solidFill>
                  <a:srgbClr val="E07A1F"/>
                </a:solidFill>
                <a:ea typeface="Microsoft JhengHei"/>
              </a:rPr>
              <a:t>mem17 / 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8738" y="1947672"/>
            <a:ext cx="21099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4213D"/>
                </a:solidFill>
                <a:ea typeface="Microsoft JhengHei"/>
              </a:rPr>
              <a:t>Delay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8738" y="2441448"/>
            <a:ext cx="2109978" cy="1837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coarse 0 ~ 15 clk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fractional 0 ~ 4 sample（1/5 clk）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latency 1 + coarse clk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1636" y="1463040"/>
            <a:ext cx="2567178" cy="292608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0236" y="1645920"/>
            <a:ext cx="21099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100">
                <a:solidFill>
                  <a:srgbClr val="E07A1F"/>
                </a:solidFill>
                <a:ea typeface="Microsoft JhengHei"/>
              </a:rPr>
              <a:t>mem19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0236" y="1947672"/>
            <a:ext cx="21099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4213D"/>
                </a:solidFill>
                <a:ea typeface="Microsoft JhengHei"/>
              </a:rPr>
              <a:t>Phase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0236" y="2441448"/>
            <a:ext cx="2109978" cy="1837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5 × CORDIC Rotate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每個 sample 旋轉 phase_offset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latency L_c 待確認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73134" y="1463040"/>
            <a:ext cx="2567178" cy="292608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01734" y="1645920"/>
            <a:ext cx="21099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100">
                <a:solidFill>
                  <a:srgbClr val="E07A1F"/>
                </a:solidFill>
                <a:ea typeface="Microsoft JhengHei"/>
              </a:rPr>
              <a:t>BRAM 2048 × 32 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01734" y="1947672"/>
            <a:ext cx="21099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4213D"/>
                </a:solidFill>
                <a:ea typeface="Microsoft JhengHei"/>
              </a:rPr>
              <a:t>Gain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01734" y="2441448"/>
            <a:ext cx="2109978" cy="1837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gain index 1/16 dB → 線性 gain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round-half-even，飽和 ±16384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4 clk；index = TXAGC 或 manual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48640" y="4663440"/>
          <a:ext cx="11091672" cy="1463040"/>
        </p:xfrm>
        <a:graphic>
          <a:graphicData uri="http://schemas.openxmlformats.org/drawingml/2006/table">
            <a:tbl>
              <a:tblPr firstRow="0" bandRow="0"/>
              <a:tblGrid>
                <a:gridCol w="4507992"/>
                <a:gridCol w="1554480"/>
                <a:gridCol w="1554480"/>
                <a:gridCol w="1920240"/>
                <a:gridCol w="15544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ch1 資源（build 01，routed）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LUT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FF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RAMB36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DSP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cal_plus_gain_control_ch1 合計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14,973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25,226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7（+ RAMB18 × 1）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363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in_band_flatness（FIR）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4,917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10,130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07A1F"/>
                          </a:solidFill>
                          <a:ea typeface="Microsoft JhengHei"/>
                        </a:rPr>
                        <a:t>320</a:t>
                      </a:r>
                    </a:p>
                  </a:txBody>
                  <a:tcPr marL="73152" marR="73152" marT="27432" marB="27432" anchor="ctr">
                    <a:solidFill>
                      <a:srgbClr val="FDF1E6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calibration（Delay + CORDIC + Gain + BRAM）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6,892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9,144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>
                <a:ea typeface="Microsoft JhengHei"/>
              </a:rPr>
              <a:t>POWER FIT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>
                <a:ea typeface="Microsoft JhengHei"/>
              </a:rPr>
              <a:t>Power Fit：算出把訊號搬到 goal 的增益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63040"/>
            <a:ext cx="3566160" cy="251460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16459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100">
                <a:solidFill>
                  <a:srgbClr val="E07A1F"/>
                </a:solidFill>
                <a:ea typeface="Microsoft JhengHei"/>
              </a:rPr>
              <a:t>量測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1947672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4213D"/>
                </a:solidFill>
                <a:ea typeface="Microsoft JhengHei"/>
              </a:rPr>
              <a:t>CW（sys0 = 0）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2423160"/>
            <a:ext cx="3108960" cy="1444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每拍取 sample 2，sqrt(I² + Q²)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區塊平均 N = 2^k（預設 256 ≈ 1.0 µs）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goal = min(cw_goal, −margin)，預設 −6 dBFS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160520"/>
            <a:ext cx="3566160" cy="205740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3434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100">
                <a:solidFill>
                  <a:srgbClr val="E07A1F"/>
                </a:solidFill>
                <a:ea typeface="Microsoft JhengHei"/>
              </a:rPr>
              <a:t>外部輸入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645152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4213D"/>
                </a:solidFill>
                <a:ea typeface="Microsoft JhengHei"/>
              </a:rPr>
              <a:t>Pulse（sys0 = 1）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120640"/>
            <a:ext cx="3108960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pulse_avg_amp / pulse_papr（目前由 VIO）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不變 M 拍後自動鎖存（M = 4）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goal = −(margin + PAPR)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0" y="1463040"/>
            <a:ext cx="7251192" cy="11430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17720" y="1572768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ea typeface="Microsoft JhengHei"/>
              </a:rPr>
              <a:t>pf = round(goal − input_dBFS)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2103120"/>
            <a:ext cx="6766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DDE3EC"/>
                </a:solidFill>
                <a:ea typeface="Microsoft JhengHei"/>
              </a:rPr>
              <a:t>1/16 dB · 飽和 ±511（±31.94 dB）· 16384 = 0 dBFS · 同時輸出 goal_rel = goal − goal_ref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4389120" y="2834640"/>
          <a:ext cx="7251192" cy="2194560"/>
        </p:xfrm>
        <a:graphic>
          <a:graphicData uri="http://schemas.openxmlformats.org/drawingml/2006/table">
            <a:tbl>
              <a:tblPr firstRow="0" bandRow="0"/>
              <a:tblGrid>
                <a:gridCol w="4873752"/>
                <a:gridCol w="23774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路徑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延遲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power_fit_db：鎖存 → pf / goal_rel / goal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6 拍（23 ns）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CW：區塊最後一個 sample → pf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≈ 15 拍（≈ 60 ns）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CW：更新週期（k = 8）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256 sample ≈ 1.0 µs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Pulse：輸入改變 → pf（M = 4）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11 拍（43 ns）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pf 改變 → agc_cdc 的 adc_clk 端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≈ 25 ~ 28 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4389120" y="5166360"/>
            <a:ext cx="72511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ea typeface="Microsoft JhengHei"/>
              </a:rPr>
              <a:t>Power Fit 只算增益，不碰資料：</a:t>
            </a:r>
            <a:r>
              <a:rPr sz="1300" b="0">
                <a:solidFill>
                  <a:srgbClr val="3A4555"/>
                </a:solidFill>
                <a:ea typeface="Microsoft JhengHei"/>
              </a:rPr>
              <a:t>pf 經 agc_emu → gain_index_mux → Gain_Compensation 才套用到資料。量測點是 Source Mux 選到的訊號、FIR 之前。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>
                <a:ea typeface="Microsoft JhengHei"/>
              </a:rPr>
              <a:t>GAIN CONTROL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>
                <a:ea typeface="Microsoft JhengHei"/>
              </a:rPr>
              <a:t>TXAGC：類比優先，數位只補殘差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63040"/>
            <a:ext cx="3566160" cy="150876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160020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2B6CB0"/>
                </a:solidFill>
                <a:ea typeface="Microsoft JhengHei"/>
              </a:rPr>
              <a:t>5 ~ 130 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359152"/>
            <a:ext cx="3108960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4555"/>
                </a:solidFill>
                <a:ea typeface="Microsoft JhengHei"/>
              </a:rPr>
              <a:t>類比衰減，28 個檔位（5 dB / 4 dB 步階）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06824" y="1463040"/>
            <a:ext cx="3566160" cy="150876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35424" y="160020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2B6CB0"/>
                </a:solidFill>
                <a:ea typeface="Microsoft JhengHei"/>
              </a:rPr>
              <a:t>0 ~ 4.94 dB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35424" y="2359152"/>
            <a:ext cx="3108960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4555"/>
                </a:solidFill>
                <a:ea typeface="Microsoft JhengHei"/>
              </a:rPr>
              <a:t>數位補的殘差 R（有遲滯時 −H ~ 4.94 + H）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5008" y="1463040"/>
            <a:ext cx="3566160" cy="150876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93608" y="160020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2B6CB0"/>
                </a:solidFill>
                <a:ea typeface="Microsoft JhengHei"/>
              </a:rPr>
              <a:t>1 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3608" y="2359152"/>
            <a:ext cx="3108960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4555"/>
                </a:solidFill>
                <a:ea typeface="Microsoft JhengHei"/>
              </a:rPr>
              <a:t>預設換檔遲滯 H（sys16 = 0x10）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7784" y="3246120"/>
            <a:ext cx="377843" cy="3840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3915" y="3246120"/>
            <a:ext cx="377843" cy="3840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350046" y="3246120"/>
            <a:ext cx="377843" cy="3840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746177" y="3246120"/>
            <a:ext cx="377843" cy="3840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142308" y="3246120"/>
            <a:ext cx="377843" cy="3840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538439" y="3246120"/>
            <a:ext cx="377843" cy="3840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934570" y="3246120"/>
            <a:ext cx="377843" cy="3840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330702" y="3246120"/>
            <a:ext cx="377843" cy="3840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726833" y="3246120"/>
            <a:ext cx="377843" cy="3840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122964" y="3246120"/>
            <a:ext cx="377843" cy="3840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19095" y="3246120"/>
            <a:ext cx="377843" cy="3840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915226" y="3246120"/>
            <a:ext cx="377843" cy="3840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311357" y="3246120"/>
            <a:ext cx="377843" cy="3840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707488" y="3246120"/>
            <a:ext cx="377843" cy="3840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03620" y="3246120"/>
            <a:ext cx="377843" cy="3840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99751" y="3246120"/>
            <a:ext cx="377843" cy="3840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95882" y="3246120"/>
            <a:ext cx="377843" cy="3840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292013" y="3246120"/>
            <a:ext cx="377843" cy="38404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688144" y="3246120"/>
            <a:ext cx="377843" cy="38404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84275" y="3246120"/>
            <a:ext cx="377843" cy="38404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480406" y="3246120"/>
            <a:ext cx="377843" cy="38404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876538" y="3246120"/>
            <a:ext cx="377843" cy="38404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272669" y="3246120"/>
            <a:ext cx="377843" cy="38404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68800" y="3246120"/>
            <a:ext cx="377843" cy="38404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064931" y="3246120"/>
            <a:ext cx="377843" cy="38404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461062" y="3246120"/>
            <a:ext cx="377843" cy="38404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857193" y="3246120"/>
            <a:ext cx="377843" cy="38404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253324" y="3246120"/>
            <a:ext cx="377843" cy="38404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" y="3675887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4213D"/>
                </a:solidFill>
                <a:ea typeface="Microsoft JhengHei"/>
              </a:rPr>
              <a:t>state 0 · 130 dB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82869" y="3675887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4213D"/>
                </a:solidFill>
                <a:ea typeface="Microsoft JhengHei"/>
              </a:rPr>
              <a:t>state 17 · 45 dB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64020" y="3675887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14213D"/>
                </a:solidFill>
                <a:ea typeface="Microsoft JhengHei"/>
              </a:rPr>
              <a:t>state 27 · 5 dB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925426" y="3291840"/>
            <a:ext cx="1980655" cy="29260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925426" y="3291840"/>
            <a:ext cx="19806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ea typeface="Microsoft JhengHei"/>
              </a:rPr>
              <a:t>0 ~ 17：每檔 5 dB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73197" y="3291840"/>
            <a:ext cx="1980655" cy="29260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73197" y="3291840"/>
            <a:ext cx="19806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ea typeface="Microsoft JhengHei"/>
              </a:rPr>
              <a:t>17 ~ 27：每檔 4 dB</a:t>
            </a:r>
          </a:p>
        </p:txBody>
      </p: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548640" y="4114800"/>
          <a:ext cx="11091672" cy="1536192"/>
        </p:xfrm>
        <a:graphic>
          <a:graphicData uri="http://schemas.openxmlformats.org/drawingml/2006/table">
            <a:tbl>
              <a:tblPr firstRow="0" bandRow="0"/>
              <a:tblGrid>
                <a:gridCol w="3840480"/>
                <a:gridCol w="7251192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目標總衰減 T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公式（1/16 dB；A + R = T，數位 gain = pf − R）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Linear（sys4 = 0，開機預設）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1545 + linear_offset − rx_att_index × 160 + pf − offsets + algo × 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Manual（sys4 = 1）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dac_output_ref + goal_rel + 800 − target_power × 16 + manual_offset − offsets + algo × 16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Manual TX att（mem31 = 1）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agc_manual_tx_att_db × 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1" name="TextBox 70"/>
          <p:cNvSpPr txBox="1"/>
          <p:nvPr/>
        </p:nvSpPr>
        <p:spPr>
          <a:xfrm>
            <a:off x="548640" y="5760720"/>
            <a:ext cx="11091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4555"/>
                </a:solidFill>
                <a:ea typeface="Microsoft JhengHei"/>
              </a:rPr>
              <a:t>Linear：回波以固定總增益（標稱 0 dB）通過，pf 被完全抵銷。Manual：輸出功率對準 agc_target_power。1545 = 96.5625 dB、800 = 50 dB 是標稱值。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>
                <a:ea typeface="Microsoft JhengHei"/>
              </a:rPr>
              <a:t>GAIN CONTROL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>
                <a:ea typeface="Microsoft JhengHei"/>
              </a:rPr>
              <a:t>模式、shift register 與本版現況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463040"/>
          <a:ext cx="6766560" cy="2286000"/>
        </p:xfrm>
        <a:graphic>
          <a:graphicData uri="http://schemas.openxmlformats.org/drawingml/2006/table">
            <a:tbl>
              <a:tblPr firstRow="0" bandRow="0"/>
              <a:tblGrid>
                <a:gridCol w="1280160"/>
                <a:gridCol w="2194560"/>
                <a:gridCol w="146304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模式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進入條件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TX 衰減欄位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數位 gain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07A1F"/>
                          </a:solidFill>
                          <a:ea typeface="Microsoft JhengHei"/>
                        </a:rPr>
                        <a:t>RX mode</a:t>
                      </a:r>
                    </a:p>
                  </a:txBody>
                  <a:tcPr marL="73152" marR="73152" marT="27432" marB="27432" anchor="ctr">
                    <a:solidFill>
                      <a:srgbClr val="FDF1E6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agc_reg5[7] = 1（開機）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dummy 130 dB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pf − 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TX mode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agc_reg5[7] = 0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TXAGC 結果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pf − R，與類比換檔同步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Bypass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mem28 =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mem29 state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pf（R = 0）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Manual RX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mem36 = 1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RX 衰減 = mem37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548640" y="3977639"/>
            <a:ext cx="6766560" cy="224028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160520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ea typeface="Microsoft JhengHei"/>
              </a:rPr>
              <a:t>Shift register（74LVC595 × 5）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599432"/>
            <a:ext cx="6309360" cy="1508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Reg1~4：衰減器欄位，內容一變就自動送（latest wins）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Reg5：TXRX_SW / Filter / PA，由 mode ctrl 控制順序與 settle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數位 / 類比同步：N = 35 adc_clk（sys5）與 RCLK 同一個 edge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0" y="1463040"/>
            <a:ext cx="4050791" cy="4754880"/>
          </a:xfrm>
          <a:prstGeom prst="roundRect">
            <a:avLst>
              <a:gd name="adj" fmla="val 3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18120" y="16459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0A050"/>
                </a:solidFill>
                <a:ea typeface="Microsoft JhengHei"/>
              </a:rPr>
              <a:t>本版現況（IF 驗證）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2194560"/>
            <a:ext cx="36118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DDE3EC"/>
                </a:solidFill>
                <a:ea typeface="Microsoft JhengHei"/>
              </a:rPr>
              <a:t>•  8 通道的 Reg1~5 SER / SRCLK / RCLK 沒有接到頂層、沒有 XDC：類比換檔沒有實體效果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DDE3EC"/>
                </a:solidFill>
                <a:ea typeface="Microsoft JhengHei"/>
              </a:rPr>
              <a:t>•  開機在 RX mode（agc_reg5 = 0x80）、Linear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DDE3EC"/>
                </a:solidFill>
                <a:ea typeface="Microsoft JhengHei"/>
              </a:rPr>
              <a:t>•  數位仍補 R：IF 驗證時用 mem20 = 1、mem21 固定數位 gain 避開跳檔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DDE3EC"/>
                </a:solidFill>
                <a:ea typeface="Microsoft JhengHei"/>
              </a:rPr>
              <a:t>•  外部輸入暫時由 vio_ext_inputs 提供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DDE3EC"/>
                </a:solidFill>
                <a:ea typeface="Microsoft JhengHei"/>
              </a:rPr>
              <a:t>•  TRM 上線後處理（Follow-up T1 ~ T3）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>
                <a:ea typeface="Microsoft JhengHei"/>
              </a:rPr>
              <a:t>TIMING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>
                <a:ea typeface="Microsoft JhengHei"/>
              </a:rPr>
              <a:t>Pulse 輸入改變後 ≈ 290 ns 套用到資料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63040"/>
            <a:ext cx="3291840" cy="4709160"/>
          </a:xfrm>
          <a:prstGeom prst="roundRect">
            <a:avLst>
              <a:gd name="adj" fmla="val 3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169164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0A050"/>
                </a:solidFill>
                <a:ea typeface="Microsoft JhengHei"/>
              </a:rPr>
              <a:t>條件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194560"/>
            <a:ext cx="283464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DDE3EC"/>
                </a:solidFill>
                <a:ea typeface="Microsoft JhengHei"/>
              </a:rPr>
              <a:t>•  Pulse avg 與 PAPR 同拍改變（t0）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DDE3EC"/>
                </a:solidFill>
                <a:ea typeface="Microsoft JhengHei"/>
              </a:rPr>
              <a:t>•  M = 4（sys3）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DDE3EC"/>
                </a:solidFill>
                <a:ea typeface="Microsoft JhengHei"/>
              </a:rPr>
              <a:t>•  SR 週期 50 adc_clk（sys6）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DDE3EC"/>
                </a:solidFill>
                <a:ea typeface="Microsoft JhengHei"/>
              </a:rPr>
              <a:t>•  digital_apply_delay 35（sys5）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DDE3EC"/>
                </a:solidFill>
                <a:ea typeface="Microsoft JhengHei"/>
              </a:rPr>
              <a:t>•  Manual / Linear 結果相同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07492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9D3E0"/>
                </a:solidFill>
                <a:ea typeface="Microsoft JhengHei"/>
              </a:rPr>
              <a:t>tb_pulse_timeline 模擬值，不含 595 輸出延遲與衰減器切換時間；尚未上板量測</a:t>
            </a:r>
          </a:p>
        </p:txBody>
      </p:sp>
      <p:sp>
        <p:nvSpPr>
          <p:cNvPr id="30" name="Oval 29"/>
          <p:cNvSpPr/>
          <p:nvPr/>
        </p:nvSpPr>
        <p:spPr>
          <a:xfrm>
            <a:off x="4160520" y="1508760"/>
            <a:ext cx="384048" cy="384048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60520" y="15087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ea typeface="Microsoft JhengHei"/>
              </a:rPr>
              <a:t>1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352544" y="1892807"/>
            <a:ext cx="0" cy="283465"/>
          </a:xfrm>
          <a:prstGeom prst="line">
            <a:avLst/>
          </a:prstGeom>
          <a:ln w="12700">
            <a:solidFill>
              <a:srgbClr val="8FA3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754880" y="1563624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ea typeface="Microsoft JhengHei"/>
              </a:rPr>
              <a:t>Power Fit   </a:t>
            </a:r>
            <a:r>
              <a:rPr sz="1300" b="0">
                <a:solidFill>
                  <a:srgbClr val="3A4555"/>
                </a:solidFill>
                <a:ea typeface="Microsoft JhengHei"/>
              </a:rPr>
              <a:t>pf / goal_rel / goal 輸出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66960" y="1527048"/>
            <a:ext cx="1673352" cy="36576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66960" y="1527048"/>
            <a:ext cx="16733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ea typeface="Microsoft JhengHei"/>
              </a:rPr>
              <a:t>43.0 ns</a:t>
            </a:r>
          </a:p>
        </p:txBody>
      </p:sp>
      <p:sp>
        <p:nvSpPr>
          <p:cNvPr id="36" name="Oval 35"/>
          <p:cNvSpPr/>
          <p:nvPr/>
        </p:nvSpPr>
        <p:spPr>
          <a:xfrm>
            <a:off x="4160520" y="2176272"/>
            <a:ext cx="384048" cy="384048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60520" y="21762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ea typeface="Microsoft JhengHei"/>
              </a:rPr>
              <a:t>2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352544" y="2560320"/>
            <a:ext cx="0" cy="283464"/>
          </a:xfrm>
          <a:prstGeom prst="line">
            <a:avLst/>
          </a:prstGeom>
          <a:ln w="12700">
            <a:solidFill>
              <a:srgbClr val="8FA3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754880" y="223113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ea typeface="Microsoft JhengHei"/>
              </a:rPr>
              <a:t>agc_cdc   </a:t>
            </a:r>
            <a:r>
              <a:rPr sz="1300" b="0">
                <a:solidFill>
                  <a:srgbClr val="3A4555"/>
                </a:solidFill>
                <a:ea typeface="Microsoft JhengHei"/>
              </a:rPr>
              <a:t>adc_clk 端收到 pf / goal_rel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966960" y="2194560"/>
            <a:ext cx="1673352" cy="36576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66960" y="2194560"/>
            <a:ext cx="16733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ea typeface="Microsoft JhengHei"/>
              </a:rPr>
              <a:t>67.6 ~ 71.4 ns</a:t>
            </a:r>
          </a:p>
        </p:txBody>
      </p:sp>
      <p:sp>
        <p:nvSpPr>
          <p:cNvPr id="42" name="Oval 41"/>
          <p:cNvSpPr/>
          <p:nvPr/>
        </p:nvSpPr>
        <p:spPr>
          <a:xfrm>
            <a:off x="4160520" y="2843784"/>
            <a:ext cx="384048" cy="384048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60520" y="284378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ea typeface="Microsoft JhengHei"/>
              </a:rPr>
              <a:t>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352544" y="3227832"/>
            <a:ext cx="0" cy="283464"/>
          </a:xfrm>
          <a:prstGeom prst="line">
            <a:avLst/>
          </a:prstGeom>
          <a:ln w="12700">
            <a:solidFill>
              <a:srgbClr val="8FA3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754880" y="289864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ea typeface="Microsoft JhengHei"/>
              </a:rPr>
              <a:t>TXAGC   </a:t>
            </a:r>
            <a:r>
              <a:rPr sz="1300" b="0">
                <a:solidFill>
                  <a:srgbClr val="3A4555"/>
                </a:solidFill>
                <a:ea typeface="Microsoft JhengHei"/>
              </a:rPr>
              <a:t>tx_att_state / 數位 gain index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66960" y="2862072"/>
            <a:ext cx="1673352" cy="36576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66960" y="2862072"/>
            <a:ext cx="16733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ea typeface="Microsoft JhengHei"/>
              </a:rPr>
              <a:t>84.3 ~ 88.1 ns</a:t>
            </a:r>
          </a:p>
        </p:txBody>
      </p:sp>
      <p:sp>
        <p:nvSpPr>
          <p:cNvPr id="48" name="Oval 47"/>
          <p:cNvSpPr/>
          <p:nvPr/>
        </p:nvSpPr>
        <p:spPr>
          <a:xfrm>
            <a:off x="4160520" y="3511296"/>
            <a:ext cx="384048" cy="384048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60520" y="35112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ea typeface="Microsoft JhengHei"/>
              </a:rPr>
              <a:t>4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352544" y="3895344"/>
            <a:ext cx="0" cy="283464"/>
          </a:xfrm>
          <a:prstGeom prst="line">
            <a:avLst/>
          </a:prstGeom>
          <a:ln w="12700">
            <a:solidFill>
              <a:srgbClr val="8FA3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754880" y="35661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ea typeface="Microsoft JhengHei"/>
              </a:rPr>
              <a:t>SR start   </a:t>
            </a:r>
            <a:r>
              <a:rPr sz="1300" b="0">
                <a:solidFill>
                  <a:srgbClr val="3A4555"/>
                </a:solidFill>
                <a:ea typeface="Microsoft JhengHei"/>
              </a:rPr>
              <a:t>Reg1~4 開始傳送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966960" y="3529584"/>
            <a:ext cx="1673352" cy="36576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66960" y="3529584"/>
            <a:ext cx="16733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ea typeface="Microsoft JhengHei"/>
              </a:rPr>
              <a:t>88.4 ~ 92.3 ns</a:t>
            </a:r>
          </a:p>
        </p:txBody>
      </p:sp>
      <p:sp>
        <p:nvSpPr>
          <p:cNvPr id="54" name="Oval 53"/>
          <p:cNvSpPr/>
          <p:nvPr/>
        </p:nvSpPr>
        <p:spPr>
          <a:xfrm>
            <a:off x="4160520" y="4178808"/>
            <a:ext cx="384048" cy="384048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60520" y="41788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ea typeface="Microsoft JhengHei"/>
              </a:rPr>
              <a:t>5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352544" y="4562856"/>
            <a:ext cx="0" cy="283464"/>
          </a:xfrm>
          <a:prstGeom prst="line">
            <a:avLst/>
          </a:prstGeom>
          <a:ln w="12700">
            <a:solidFill>
              <a:srgbClr val="8FA3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754880" y="423367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ea typeface="Microsoft JhengHei"/>
              </a:rPr>
              <a:t>RCLK   </a:t>
            </a:r>
            <a:r>
              <a:rPr sz="1300" b="0">
                <a:solidFill>
                  <a:srgbClr val="3A4555"/>
                </a:solidFill>
                <a:ea typeface="Microsoft JhengHei"/>
              </a:rPr>
              <a:t>類比衰減鎖存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966960" y="4197096"/>
            <a:ext cx="1673352" cy="36576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66960" y="4197096"/>
            <a:ext cx="16733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ea typeface="Microsoft JhengHei"/>
              </a:rPr>
              <a:t>238.4 ~ 242.2 ns</a:t>
            </a:r>
          </a:p>
        </p:txBody>
      </p:sp>
      <p:sp>
        <p:nvSpPr>
          <p:cNvPr id="60" name="Oval 59"/>
          <p:cNvSpPr/>
          <p:nvPr/>
        </p:nvSpPr>
        <p:spPr>
          <a:xfrm>
            <a:off x="4160520" y="4846320"/>
            <a:ext cx="384048" cy="384048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60520" y="48463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ea typeface="Microsoft JhengHei"/>
              </a:rPr>
              <a:t>6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4352544" y="5230368"/>
            <a:ext cx="0" cy="283463"/>
          </a:xfrm>
          <a:prstGeom prst="line">
            <a:avLst/>
          </a:prstGeom>
          <a:ln w="12700">
            <a:solidFill>
              <a:srgbClr val="8FA3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4754880" y="4901183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ea typeface="Microsoft JhengHei"/>
              </a:rPr>
              <a:t>gain_index_tx   </a:t>
            </a:r>
            <a:r>
              <a:rPr sz="1300" b="0">
                <a:solidFill>
                  <a:srgbClr val="3A4555"/>
                </a:solidFill>
                <a:ea typeface="Microsoft JhengHei"/>
              </a:rPr>
              <a:t>回到 FPGA_clk → gain_index_mux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966960" y="4864607"/>
            <a:ext cx="1673352" cy="36576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966960" y="4864607"/>
            <a:ext cx="16733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ea typeface="Microsoft JhengHei"/>
              </a:rPr>
              <a:t>273.4 ~ 277.3 ns</a:t>
            </a:r>
          </a:p>
        </p:txBody>
      </p:sp>
      <p:sp>
        <p:nvSpPr>
          <p:cNvPr id="66" name="Oval 65"/>
          <p:cNvSpPr/>
          <p:nvPr/>
        </p:nvSpPr>
        <p:spPr>
          <a:xfrm>
            <a:off x="4160520" y="5513831"/>
            <a:ext cx="384048" cy="384048"/>
          </a:xfrm>
          <a:prstGeom prst="ellipse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60520" y="5513831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ea typeface="Microsoft JhengHei"/>
              </a:rPr>
              <a:t>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54880" y="5568695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ea typeface="Microsoft JhengHei"/>
              </a:rPr>
              <a:t>套用   </a:t>
            </a:r>
            <a:r>
              <a:rPr sz="1300" b="0">
                <a:solidFill>
                  <a:srgbClr val="3A4555"/>
                </a:solidFill>
                <a:ea typeface="Microsoft JhengHei"/>
              </a:rPr>
              <a:t>Gain_Compensation 4 拍後到資料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966960" y="5532119"/>
            <a:ext cx="1673352" cy="36576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966960" y="5532119"/>
            <a:ext cx="16733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ea typeface="Microsoft JhengHei"/>
              </a:rPr>
              <a:t>≈ 289 ~ 293 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>
                <a:ea typeface="Microsoft JhengHei"/>
              </a:rPr>
              <a:t>REGISTER MAP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>
                <a:ea typeface="Microsoft JhengHei"/>
              </a:rPr>
              <a:t>PS 位址：原位址不變，新增從 0xA009 起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463040"/>
          <a:ext cx="6766560" cy="3840480"/>
        </p:xfrm>
        <a:graphic>
          <a:graphicData uri="http://schemas.openxmlformats.org/drawingml/2006/table">
            <a:tbl>
              <a:tblPr firstRow="0" bandRow="0"/>
              <a:tblGrid>
                <a:gridCol w="2560320"/>
                <a:gridCol w="1097280"/>
                <a:gridCol w="310896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位址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大小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模組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0xA000_0000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64 KB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DMA_Ctrl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0xA001_0000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64 KB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axi_gpio_arstn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0xA002_0000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64 KB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axi_gpio_pma_rst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0xA003_0000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64 KB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axi_intc_0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0xA004_0000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256 KB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usp_rf_data_converter_1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0xA008_0000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64 KB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axi_delay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07A1F"/>
                          </a:solidFill>
                          <a:ea typeface="Microsoft JhengHei"/>
                        </a:rPr>
                        <a:t>0xA009_0000 ~ 7FFF</a:t>
                      </a:r>
                    </a:p>
                  </a:txBody>
                  <a:tcPr marL="73152" marR="73152" marT="27432" marB="27432" anchor="ctr">
                    <a:solidFill>
                      <a:srgbClr val="FDF1E6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07A1F"/>
                          </a:solidFill>
                          <a:ea typeface="Microsoft JhengHei"/>
                        </a:rPr>
                        <a:t>8 × 4 KB</a:t>
                      </a:r>
                    </a:p>
                  </a:txBody>
                  <a:tcPr marL="73152" marR="73152" marT="27432" marB="27432" anchor="ctr">
                    <a:solidFill>
                      <a:srgbClr val="FDF1E6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07A1F"/>
                          </a:solidFill>
                          <a:ea typeface="Microsoft JhengHei"/>
                        </a:rPr>
                        <a:t>ch1 ~ 8 addressable_reg_map</a:t>
                      </a:r>
                    </a:p>
                  </a:txBody>
                  <a:tcPr marL="73152" marR="73152" marT="27432" marB="27432" anchor="ctr">
                    <a:solidFill>
                      <a:srgbClr val="FDF1E6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07A1F"/>
                          </a:solidFill>
                          <a:ea typeface="Microsoft JhengHei"/>
                        </a:rPr>
                        <a:t>0xA009_8000</a:t>
                      </a:r>
                    </a:p>
                  </a:txBody>
                  <a:tcPr marL="73152" marR="73152" marT="27432" marB="27432" anchor="ctr">
                    <a:solidFill>
                      <a:srgbClr val="FDF1E6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07A1F"/>
                          </a:solidFill>
                          <a:ea typeface="Microsoft JhengHei"/>
                        </a:rPr>
                        <a:t>4 KB</a:t>
                      </a:r>
                    </a:p>
                  </a:txBody>
                  <a:tcPr marL="73152" marR="73152" marT="27432" marB="27432" anchor="ctr">
                    <a:solidFill>
                      <a:srgbClr val="FDF1E6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07A1F"/>
                          </a:solidFill>
                          <a:ea typeface="Microsoft JhengHei"/>
                        </a:rPr>
                        <a:t>system_reg_map（8 通道共用）</a:t>
                      </a:r>
                    </a:p>
                  </a:txBody>
                  <a:tcPr marL="73152" marR="73152" marT="27432" marB="27432" anchor="ctr">
                    <a:solidFill>
                      <a:srgbClr val="FDF1E6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07A1F"/>
                          </a:solidFill>
                          <a:ea typeface="Microsoft JhengHei"/>
                        </a:rPr>
                        <a:t>0xA009_A000 ~ 0xA00A_9FFF</a:t>
                      </a:r>
                    </a:p>
                  </a:txBody>
                  <a:tcPr marL="73152" marR="73152" marT="27432" marB="27432" anchor="ctr">
                    <a:solidFill>
                      <a:srgbClr val="FDF1E6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07A1F"/>
                          </a:solidFill>
                          <a:ea typeface="Microsoft JhengHei"/>
                        </a:rPr>
                        <a:t>8 × 8 KB</a:t>
                      </a:r>
                    </a:p>
                  </a:txBody>
                  <a:tcPr marL="73152" marR="73152" marT="27432" marB="27432" anchor="ctr">
                    <a:solidFill>
                      <a:srgbClr val="FDF1E6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07A1F"/>
                          </a:solidFill>
                          <a:ea typeface="Microsoft JhengHei"/>
                        </a:rPr>
                        <a:t>ch1 ~ 8 gain 表 BRAM</a:t>
                      </a:r>
                    </a:p>
                  </a:txBody>
                  <a:tcPr marL="73152" marR="73152" marT="27432" marB="27432" anchor="ctr">
                    <a:solidFill>
                      <a:srgbClr val="FDF1E6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7589520" y="1463040"/>
            <a:ext cx="4050791" cy="146304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18120" y="1645920"/>
            <a:ext cx="35935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ea typeface="Microsoft JhengHei"/>
              </a:rPr>
              <a:t>Channel reg 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2084832"/>
            <a:ext cx="3593591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mem0 ~ 39 設定、mem64 ~ 70 狀態；chN = 0xA009_0000 + 0x1000 × (N − 1)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0" y="3108960"/>
            <a:ext cx="4050791" cy="146304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18120" y="3291840"/>
            <a:ext cx="35935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ea typeface="Microsoft JhengHei"/>
              </a:rPr>
              <a:t>system_reg_map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3730752"/>
            <a:ext cx="3593591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sys0 ~ 16：Power Fit 模式、AGC 週期、遲滯；sys14 build_version 目前為 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9520" y="4754880"/>
            <a:ext cx="4050791" cy="146304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18120" y="4937760"/>
            <a:ext cx="35935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ea typeface="Microsoft JhengHei"/>
              </a:rPr>
              <a:t>存取規則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5376672"/>
            <a:ext cx="3593591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AXI4-Lite 32-bit；沒有 reset，PS 重開機不會恢復初值；16384 = 0 dBFS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>
                <a:ea typeface="Microsoft JhengHei"/>
              </a:rPr>
              <a:t>RFDC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>
                <a:ea typeface="Microsoft JhengHei"/>
              </a:rPr>
              <a:t>NCO ±1.04 GHz：RF 中心 2.8 GHz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48640" y="1874519"/>
            <a:ext cx="11091672" cy="4572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194767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A4555"/>
                </a:solidFill>
                <a:ea typeface="Microsoft JhengHei"/>
              </a:rPr>
              <a:t>Nyquist Zone 2 · 1.92 ~ 3.84 GHz · 3.84 GSPS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99249" y="2514600"/>
            <a:ext cx="5776912" cy="365760"/>
          </a:xfrm>
          <a:prstGeom prst="rect">
            <a:avLst/>
          </a:prstGeom>
          <a:solidFill>
            <a:srgbClr val="8FA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99249" y="2514600"/>
            <a:ext cx="57769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ea typeface="Microsoft JhengHei"/>
              </a:rPr>
              <a:t>rev0.12：2.5 ~ 3.5 GHz（NCO ±0.84）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866" y="3017520"/>
            <a:ext cx="5776912" cy="41148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866" y="3017520"/>
            <a:ext cx="577691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ea typeface="Microsoft JhengHei"/>
              </a:rPr>
              <a:t>rev0.1：2.3 ~ 3.3 GHz（NCO ±1.04，中心 2.8）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79" y="15544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A4555"/>
                </a:solidFill>
                <a:ea typeface="Microsoft JhengHei"/>
              </a:rPr>
              <a:t>1.92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8106" y="15544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A4555"/>
                </a:solidFill>
                <a:ea typeface="Microsoft JhengHei"/>
              </a:rPr>
              <a:t>2.3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66562" y="15544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A4555"/>
                </a:solidFill>
                <a:ea typeface="Microsoft JhengHei"/>
              </a:rPr>
              <a:t>2.8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5019" y="15544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A4555"/>
                </a:solidFill>
                <a:ea typeface="Microsoft JhengHei"/>
              </a:rPr>
              <a:t>3.3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74552" y="15544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A4555"/>
                </a:solidFill>
                <a:ea typeface="Microsoft JhengHei"/>
              </a:rPr>
              <a:t>3.84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548640" y="3703320"/>
          <a:ext cx="7315200" cy="2414016"/>
        </p:xfrm>
        <a:graphic>
          <a:graphicData uri="http://schemas.openxmlformats.org/drawingml/2006/table">
            <a:tbl>
              <a:tblPr firstRow="0" bandRow="0"/>
              <a:tblGrid>
                <a:gridCol w="2651760"/>
                <a:gridCol w="2331720"/>
                <a:gridCol w="2331720"/>
              </a:tblGrid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項目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rev0.12（同事）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Rex rev0.1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NCO（兩板 ADC / DAC）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0.84 / −0.84 GHz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07A1F"/>
                          </a:solidFill>
                          <a:ea typeface="Microsoft JhengHei"/>
                        </a:rPr>
                        <a:t>1.04 / −1.04 GHz</a:t>
                      </a:r>
                    </a:p>
                  </a:txBody>
                  <a:tcPr marL="73152" marR="73152" marT="27432" marB="27432" anchor="ctr">
                    <a:solidFill>
                      <a:srgbClr val="FDF1E6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ADC Outclk（z2）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30 MHz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07A1F"/>
                          </a:solidFill>
                          <a:ea typeface="Microsoft JhengHei"/>
                        </a:rPr>
                        <a:t>240 MHz（AGC）</a:t>
                      </a:r>
                    </a:p>
                  </a:txBody>
                  <a:tcPr marL="73152" marR="73152" marT="27432" marB="27432" anchor="ctr">
                    <a:solidFill>
                      <a:srgbClr val="FDF1E6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z2 ADC AXIS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未使用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8 個 → 各通道 in_1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z2 DAC 來源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hier_rx 直接接 DAC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cal_plus_gain_control_chN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z2 ADC flag / clear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未使用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接到各通道（RXAGC）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8" name="Rounded Rectangle 37"/>
          <p:cNvSpPr/>
          <p:nvPr/>
        </p:nvSpPr>
        <p:spPr>
          <a:xfrm>
            <a:off x="8138160" y="3703320"/>
            <a:ext cx="3502152" cy="2414016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6760" y="3886200"/>
            <a:ext cx="3044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ea typeface="Microsoft JhengHei"/>
              </a:rPr>
              <a:t>注意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4325112"/>
            <a:ext cx="3044952" cy="16824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三塊板 NCO 必須一致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clk_adc0 也驅動 hier_mts，請同事確認 MTS 不受 240 MHz 影響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頻率換算依設定推算，尚未量測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>
                <a:ea typeface="Microsoft JhengHei"/>
              </a:rPr>
              <a:t>IMPLEMENTATION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>
                <a:ea typeface="Microsoft JhengHei"/>
              </a:rPr>
              <a:t>兩個 bitstream 都通過 timing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63040"/>
            <a:ext cx="2569464" cy="155448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1600200"/>
            <a:ext cx="2112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07A1F"/>
                </a:solidFill>
                <a:ea typeface="Microsoft JhengHei"/>
              </a:rPr>
              <a:t>0.000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359152"/>
            <a:ext cx="2112264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4555"/>
                </a:solidFill>
                <a:ea typeface="Microsoft JhengHei"/>
              </a:rPr>
              <a:t>ns WNS · RFSoC_TX（0 failing endpoint）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92424" y="1463040"/>
            <a:ext cx="2569464" cy="155448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21024" y="1600200"/>
            <a:ext cx="2112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F855A"/>
                </a:solidFill>
                <a:ea typeface="Microsoft JhengHei"/>
              </a:rPr>
              <a:t>+0.063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21024" y="2359152"/>
            <a:ext cx="2112264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4555"/>
                </a:solidFill>
                <a:ea typeface="Microsoft JhengHei"/>
              </a:rPr>
              <a:t>ns WNS · RFSoC_RX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7" y="1463040"/>
            <a:ext cx="2569464" cy="155448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4807" y="1600200"/>
            <a:ext cx="2112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F855A"/>
                </a:solidFill>
                <a:ea typeface="Microsoft JhengHei"/>
              </a:rPr>
              <a:t>+0.010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4807" y="2359152"/>
            <a:ext cx="2112264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4555"/>
                </a:solidFill>
                <a:ea typeface="Microsoft JhengHei"/>
              </a:rPr>
              <a:t>ns WHS · 兩板相同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79992" y="1463040"/>
            <a:ext cx="2569464" cy="155448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08592" y="1600200"/>
            <a:ext cx="2112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B6CB0"/>
                </a:solidFill>
                <a:ea typeface="Microsoft JhengHei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08592" y="2359152"/>
            <a:ext cx="2112264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4555"/>
                </a:solidFill>
                <a:ea typeface="Microsoft JhengHei"/>
              </a:rPr>
              <a:t>critical warning（synth / impl）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548640" y="3246120"/>
          <a:ext cx="11091672" cy="2011680"/>
        </p:xfrm>
        <a:graphic>
          <a:graphicData uri="http://schemas.openxmlformats.org/drawingml/2006/table">
            <a:tbl>
              <a:tblPr firstRow="0" bandRow="0"/>
              <a:tblGrid>
                <a:gridCol w="2286000"/>
                <a:gridCol w="4690872"/>
                <a:gridCol w="4114800"/>
              </a:tblGrid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RFSoC_TX build 01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RFSoC_RX build 01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LUT / FF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213,477（50.2 %）/ 343,806（40.4 %）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62,320（14.7 %）/ 85,553（10.1 %）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BRAM / DSP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566.5 tile（52.5 %）/ 2,904（68.0 %）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224.5 tile（20.8 %）/ 0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最差路徑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timer_1 → hier_rx_x0y1 debug ILA（同事設計，95 % 繞線）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Aurora GT 時脈 group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輸出（output_data/01/）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RFSoC_TX_01.bit / .ltx / .xsa、BOOT.bin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RFSoC_RX_01.bit / .ltx / .xsa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548640" y="5440680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4555"/>
                </a:solidFill>
                <a:ea typeface="Microsoft JhengHei"/>
              </a:rPr>
              <a:t>Vivado 2025.2 · xczu47dr-ffvg1517-2-i。RFSoC_TX 8 個通道合計約 120K LUT、202K FF、2,904 DSP；另有 Power Fit +0.003 ns、txagc_calc +0.065 ns 的小餘裕路徑（Follow-up F1）。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>
                <a:ea typeface="Microsoft JhengHei"/>
              </a:rPr>
              <a:t>PS 程式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>
                <a:ea typeface="Microsoft JhengHei"/>
              </a:rPr>
              <a:t>RFSoC_TX 開機流程與執行期調整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554480"/>
            <a:ext cx="1097280" cy="82296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ea typeface="Microsoft JhengHei"/>
              </a:rPr>
              <a:t>RFDC</a:t>
            </a:r>
          </a:p>
          <a:p>
            <a:pPr algn="ctr"/>
            <a:r>
              <a:rPr sz="900">
                <a:solidFill>
                  <a:srgbClr val="C9D3E0"/>
                </a:solidFill>
                <a:ea typeface="Microsoft JhengHei"/>
              </a:rPr>
              <a:t>初始化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645919" y="1965960"/>
            <a:ext cx="152705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798624" y="1554480"/>
            <a:ext cx="1097280" cy="82296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ea typeface="Microsoft JhengHei"/>
              </a:rPr>
              <a:t>GPIO</a:t>
            </a:r>
          </a:p>
          <a:p>
            <a:pPr algn="ctr"/>
            <a:r>
              <a:rPr sz="900">
                <a:solidFill>
                  <a:srgbClr val="C9D3E0"/>
                </a:solidFill>
                <a:ea typeface="Microsoft JhengHei"/>
              </a:rPr>
              <a:t>EMIO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895904" y="1965960"/>
            <a:ext cx="152705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048609" y="1554480"/>
            <a:ext cx="1097280" cy="82296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ea typeface="Microsoft JhengHei"/>
              </a:rPr>
              <a:t>Gain BRAM</a:t>
            </a:r>
          </a:p>
          <a:p>
            <a:pPr algn="ctr"/>
            <a:r>
              <a:rPr sz="900">
                <a:solidFill>
                  <a:srgbClr val="C9D3E0"/>
                </a:solidFill>
                <a:ea typeface="Microsoft JhengHei"/>
              </a:rPr>
              <a:t>8 ch，讀回比對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145889" y="1965960"/>
            <a:ext cx="152705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298594" y="1554480"/>
            <a:ext cx="1097280" cy="82296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ea typeface="Microsoft JhengHei"/>
              </a:rPr>
              <a:t>Reg map</a:t>
            </a:r>
          </a:p>
          <a:p>
            <a:pPr algn="ctr"/>
            <a:r>
              <a:rPr sz="900">
                <a:solidFill>
                  <a:srgbClr val="C9D3E0"/>
                </a:solidFill>
                <a:ea typeface="Microsoft JhengHei"/>
              </a:rPr>
              <a:t>system + ch1~8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395874" y="1965960"/>
            <a:ext cx="152705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548579" y="1554480"/>
            <a:ext cx="1097280" cy="82296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ea typeface="Microsoft JhengHei"/>
              </a:rPr>
              <a:t>ADC</a:t>
            </a:r>
          </a:p>
          <a:p>
            <a:pPr algn="ctr"/>
            <a:r>
              <a:rPr sz="900">
                <a:solidFill>
                  <a:srgbClr val="C9D3E0"/>
                </a:solidFill>
                <a:ea typeface="Microsoft JhengHei"/>
              </a:rPr>
              <a:t>threshold × 8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645859" y="1965960"/>
            <a:ext cx="152705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798564" y="1554480"/>
            <a:ext cx="1097280" cy="822960"/>
          </a:xfrm>
          <a:prstGeom prst="roundRect">
            <a:avLst>
              <a:gd name="adj" fmla="val 6000"/>
            </a:avLst>
          </a:prstGeom>
          <a:solidFill>
            <a:srgbClr val="8FA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14213D"/>
                </a:solidFill>
                <a:ea typeface="Microsoft JhengHei"/>
              </a:rPr>
              <a:t>RFDC</a:t>
            </a:r>
          </a:p>
          <a:p>
            <a:pPr algn="ctr"/>
            <a:r>
              <a:rPr sz="900">
                <a:solidFill>
                  <a:srgbClr val="14213D"/>
                </a:solidFill>
                <a:ea typeface="Microsoft JhengHei"/>
              </a:rPr>
              <a:t>reset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895844" y="1965960"/>
            <a:ext cx="152704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048548" y="1554480"/>
            <a:ext cx="1097280" cy="822960"/>
          </a:xfrm>
          <a:prstGeom prst="roundRect">
            <a:avLst>
              <a:gd name="adj" fmla="val 6000"/>
            </a:avLst>
          </a:prstGeom>
          <a:solidFill>
            <a:srgbClr val="8FA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14213D"/>
                </a:solidFill>
                <a:ea typeface="Microsoft JhengHei"/>
              </a:rPr>
              <a:t>BMC</a:t>
            </a:r>
          </a:p>
          <a:p>
            <a:pPr algn="ctr"/>
            <a:r>
              <a:rPr sz="900">
                <a:solidFill>
                  <a:srgbClr val="14213D"/>
                </a:solidFill>
                <a:ea typeface="Microsoft JhengHei"/>
              </a:rPr>
              <a:t>handshake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45828" y="1965960"/>
            <a:ext cx="152705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298533" y="1554480"/>
            <a:ext cx="1097280" cy="822960"/>
          </a:xfrm>
          <a:prstGeom prst="roundRect">
            <a:avLst>
              <a:gd name="adj" fmla="val 6000"/>
            </a:avLst>
          </a:prstGeom>
          <a:solidFill>
            <a:srgbClr val="8FA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14213D"/>
                </a:solidFill>
                <a:ea typeface="Microsoft JhengHei"/>
              </a:rPr>
              <a:t>MTS</a:t>
            </a:r>
          </a:p>
          <a:p>
            <a:pPr algn="ctr"/>
            <a:r>
              <a:rPr sz="900">
                <a:solidFill>
                  <a:srgbClr val="14213D"/>
                </a:solidFill>
                <a:ea typeface="Microsoft JhengHei"/>
              </a:rPr>
              <a:t>+ handshake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0395813" y="1965960"/>
            <a:ext cx="152705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0548518" y="1554480"/>
            <a:ext cx="1097280" cy="822960"/>
          </a:xfrm>
          <a:prstGeom prst="roundRect">
            <a:avLst>
              <a:gd name="adj" fmla="val 6000"/>
            </a:avLst>
          </a:prstGeom>
          <a:solidFill>
            <a:srgbClr val="8FA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14213D"/>
                </a:solidFill>
                <a:ea typeface="Microsoft JhengHei"/>
              </a:rPr>
              <a:t>MBS</a:t>
            </a:r>
          </a:p>
          <a:p>
            <a:pPr algn="ctr"/>
            <a:r>
              <a:rPr sz="900">
                <a:solidFill>
                  <a:srgbClr val="14213D"/>
                </a:solidFill>
                <a:ea typeface="Microsoft JhengHei"/>
              </a:rPr>
              <a:t>+ handshake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246888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4555"/>
                </a:solidFill>
                <a:ea typeface="Microsoft JhengHei"/>
              </a:rPr>
              <a:t>前 5 步在第一次 BMC handshake 前完成；BMC 沒回 CMD 時程式會停在 handshake 等待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2880360"/>
            <a:ext cx="5440680" cy="137160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3063240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ea typeface="Microsoft JhengHei"/>
              </a:rPr>
              <a:t>BOOT.bin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3502152"/>
            <a:ext cx="4983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FSBL + bit + app（沒有 PMUFW，同 Calibration_Gain_Control）；output_data/01/BOOT.bin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99632" y="2880360"/>
            <a:ext cx="5440680" cy="137160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28232" y="3063240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ea typeface="Microsoft JhengHei"/>
              </a:rPr>
              <a:t>PS 不處理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28232" y="3502152"/>
            <a:ext cx="4983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同事的 axi_gpio_arstn / axi_delay（Aurora reset 與延遲依同事流程人工操作）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548640" y="4480560"/>
          <a:ext cx="11091672" cy="1737360"/>
        </p:xfrm>
        <a:graphic>
          <a:graphicData uri="http://schemas.openxmlformats.org/drawingml/2006/table">
            <a:tbl>
              <a:tblPr firstRow="0" bandRow="0"/>
              <a:tblGrid>
                <a:gridCol w="3474720"/>
                <a:gridCol w="7616952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目的（XSDB，reg_runtime/reg_rt.tcl）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指令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切通道 / 看狀態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reg_ch 3 · status all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本板 ADC loopback / 直通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reg_wr signal_source_select 1 · reg_wr bypass_axis_iq 1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數位 gain 固定 0 dB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reg_set gain_index_manual 0 · reg_wr gain_index_mode_sel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寫 FIR 係數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reg_wr in_band_fir_enable 0 → reg_fir_tap &lt;t&gt; &lt;I&gt; &lt;Q&gt; × 16 → reg_wr in_band_fir_enable 1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>
                <a:ea typeface="Microsoft JhengHei"/>
              </a:rPr>
              <a:t>驗證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>
                <a:ea typeface="Microsoft JhengHei"/>
              </a:rPr>
              <a:t>RTL 模擬全部 PASS，尚未上板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463040"/>
          <a:ext cx="11091672" cy="3621024"/>
        </p:xfrm>
        <a:graphic>
          <a:graphicData uri="http://schemas.openxmlformats.org/drawingml/2006/table">
            <a:tbl>
              <a:tblPr firstRow="0" bandRow="0"/>
              <a:tblGrid>
                <a:gridCol w="2651760"/>
                <a:gridCol w="7251192"/>
                <a:gridCol w="1188720"/>
              </a:tblGrid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Test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內容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狀態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tb_axis_iq_source_mux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mem39 選擇、latency 0、tready、與 bypass 的關係（12 checks）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F855A"/>
                          </a:solidFill>
                          <a:ea typeface="Microsoft JhengHei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E3E8E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tb_gain_index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reg map → cal_cdc → gain_index_mux → Gain_Compensation，300 組隨機 bit-exact（18 checks）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F855A"/>
                          </a:solidFill>
                          <a:ea typeface="Microsoft JhengHei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E3E8E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tb_power_fit_db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CW / Pulse goal、2000 組隨機 pf 誤差 ≤ 1 LSB、自動鎖存（17 checks）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F855A"/>
                          </a:solidFill>
                          <a:ea typeface="Microsoft JhengHei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E3E8E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tb_agc_emu_top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上電、RXAGC、TX / RX 切換、bypass、類比 / 數位分配、同步、遲滯（90 checks）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F855A"/>
                          </a:solidFill>
                          <a:ea typeface="Microsoft JhengHei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E3E8E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tb_txagc_calc_model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對獨立行為模型，1,007,538 vectors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F855A"/>
                          </a:solidFill>
                          <a:ea typeface="Microsoft JhengHei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E3E8E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tb_pulse_timeline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Power Fit → AGC → SR / Gain 整鏈時間線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F855A"/>
                          </a:solidFill>
                          <a:ea typeface="Microsoft JhengHei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E3E8E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Delay_Cal / CORDIC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沒有 TB；CORDIC latency 未確認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91C1C"/>
                          </a:solidFill>
                          <a:ea typeface="Microsoft JhengHei"/>
                        </a:rPr>
                        <a:t>OPEN</a:t>
                      </a:r>
                    </a:p>
                  </a:txBody>
                  <a:tcPr marL="73152" marR="73152" marT="27432" marB="27432" anchor="ctr">
                    <a:solidFill>
                      <a:srgbClr val="FDF1E6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上板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RFSoC_TX / RFSoC_RX build 01 皆未上板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91C1C"/>
                          </a:solidFill>
                          <a:ea typeface="Microsoft JhengHei"/>
                        </a:rPr>
                        <a:t>OPEN</a:t>
                      </a:r>
                    </a:p>
                  </a:txBody>
                  <a:tcPr marL="73152" marR="73152" marT="27432" marB="27432" anchor="ctr">
                    <a:solidFill>
                      <a:srgbClr val="FDF1E6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48640" y="5257800"/>
            <a:ext cx="110916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4555"/>
                </a:solidFill>
                <a:ea typeface="Microsoft JhengHei"/>
              </a:rPr>
              <a:t>模擬在 source 專案 Calibration_Gain_Control/verification/ 執行（Vivado 2025.2 xsim，回歸 11 個 TB，2026-10-14）；RFSoC_TX 的 RTL 與 source 逐檔相同，未在本專案重跑。多通道接線只由 BD 讀取確認。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>
                <a:ea typeface="Microsoft JhengHei"/>
              </a:rPr>
              <a:t>FOLLOW-UP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>
                <a:ea typeface="Microsoft JhengHei"/>
              </a:rPr>
              <a:t>已知項目：下一版先處理 timing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463040"/>
          <a:ext cx="11091672" cy="2414016"/>
        </p:xfrm>
        <a:graphic>
          <a:graphicData uri="http://schemas.openxmlformats.org/drawingml/2006/table">
            <a:tbl>
              <a:tblPr firstRow="0" bandRow="0"/>
              <a:tblGrid>
                <a:gridCol w="548640"/>
                <a:gridCol w="2926080"/>
                <a:gridCol w="6153912"/>
                <a:gridCol w="1463040"/>
              </a:tblGrid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項目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建議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ea typeface="Microsoft JhengHei"/>
                        </a:rPr>
                        <a:t>時機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F1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Timing 餘裕幾乎為 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cw_power_calc_IQ 輸入加一級暫存器、txagc_calc stage 2 拆級、debug ILA probe 前加暫存器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07A1F"/>
                          </a:solidFill>
                          <a:ea typeface="Microsoft JhengHei"/>
                        </a:rPr>
                        <a:t>下一版</a:t>
                      </a:r>
                    </a:p>
                  </a:txBody>
                  <a:tcPr marL="73152" marR="73152" marT="27432" marB="27432" anchor="ctr">
                    <a:solidFill>
                      <a:srgbClr val="FDF1E6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F2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無訊號時 pf = +511 且沒有 flag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加 sticky flag（飽和、輸入 0、CW timeout）或改輸出 0 / 保持前值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後續版本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F3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Power Fit 設定 8 通道共用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需要各通道獨立時搬到 channel reg map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依需求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F4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sys14 build_version 讀回 0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build_full_xsa.tcl 設定 CONFIG.BUILD_VERSION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07A1F"/>
                          </a:solidFill>
                          <a:ea typeface="Microsoft JhengHei"/>
                        </a:rPr>
                        <a:t>下一版</a:t>
                      </a:r>
                    </a:p>
                  </a:txBody>
                  <a:tcPr marL="73152" marR="73152" marT="27432" marB="27432" anchor="ctr">
                    <a:solidFill>
                      <a:srgbClr val="FDF1E6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ea typeface="Microsoft JhengHei"/>
                        </a:rPr>
                        <a:t>F5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FIR 係數尚未依本板量測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逐通道量頻響，產生 8 組 S0.15 係數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  <a:ea typeface="Microsoft JhengHei"/>
                        </a:rPr>
                        <a:t>上板後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548640" y="4023360"/>
            <a:ext cx="5440680" cy="2194560"/>
          </a:xfrm>
          <a:prstGeom prst="roundRect">
            <a:avLst>
              <a:gd name="adj" fmla="val 3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206240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0A050"/>
                </a:solidFill>
                <a:ea typeface="Microsoft JhengHei"/>
              </a:rPr>
              <a:t>TRM 上線後處理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645152"/>
            <a:ext cx="4983480" cy="1463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DDE3EC"/>
                </a:solidFill>
                <a:ea typeface="Microsoft JhengHei"/>
              </a:rPr>
              <a:t>•  T1 SR 腳位接出：建 port、XDC（1.8 V）、重新 build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DDE3EC"/>
                </a:solidFill>
                <a:ea typeface="Microsoft JhengHei"/>
              </a:rPr>
              <a:t>•  T2 開機模式：依 TRM 需求決定（目前 RX mode）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DDE3EC"/>
                </a:solidFill>
                <a:ea typeface="Microsoft JhengHei"/>
              </a:rPr>
              <a:t>•  T3 RX mode 數位 gain 與 RXAGC flag clear 的意圖確認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4023360"/>
            <a:ext cx="5440680" cy="219456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4206240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ea typeface="Microsoft JhengHei"/>
              </a:rPr>
              <a:t>請同事確認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645152"/>
            <a:ext cx="4983480" cy="1463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ADC Outclk 240 MHz 對 hier_mts 的影響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onebit_cdc_fifo 補回的設定，更新 release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hier_rx 的 M_AXIS_C0/C1 改成 Master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>
                <a:ea typeface="Microsoft JhengHei"/>
              </a:rPr>
              <a:t>文件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>
                <a:ea typeface="Microsoft JhengHei"/>
              </a:rPr>
              <a:t>文件集中在 docs/，依層級分資料夾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63040"/>
            <a:ext cx="2567178" cy="338328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1645920"/>
            <a:ext cx="21099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100">
                <a:solidFill>
                  <a:srgbClr val="E07A1F"/>
                </a:solidFill>
                <a:ea typeface="Microsoft JhengHei"/>
              </a:rPr>
              <a:t>01_System/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1947672"/>
            <a:ext cx="21099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4213D"/>
                </a:solidFill>
                <a:ea typeface="Microsoft JhengHei"/>
              </a:rPr>
              <a:t>系統層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2441448"/>
            <a:ext cx="2109978" cy="2295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RFSoC_TX 設計筆記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RFSoC_RX 設計筆記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VU13P 設計筆記（同事原文）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90138" y="1463040"/>
            <a:ext cx="2567178" cy="338328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8738" y="1645920"/>
            <a:ext cx="21099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100">
                <a:solidFill>
                  <a:srgbClr val="E07A1F"/>
                </a:solidFill>
                <a:ea typeface="Microsoft JhengHei"/>
              </a:rPr>
              <a:t>02_RFSoC_TX/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8738" y="1947672"/>
            <a:ext cx="21099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4213D"/>
                </a:solidFill>
                <a:ea typeface="Microsoft JhengHei"/>
              </a:rPr>
              <a:t>RFSoC_TX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8738" y="2441448"/>
            <a:ext cx="2109978" cy="2295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Top_Architecture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Register_Map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Calibration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Power_Fit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Gain_Control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RFDC_Configuration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Follow_Up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Reg_map / tools / history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1636" y="1463040"/>
            <a:ext cx="2567178" cy="338328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0236" y="1645920"/>
            <a:ext cx="21099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100">
                <a:solidFill>
                  <a:srgbClr val="E07A1F"/>
                </a:solidFill>
                <a:ea typeface="Microsoft JhengHei"/>
              </a:rPr>
              <a:t>03_RFSoC_RX/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0236" y="1947672"/>
            <a:ext cx="21099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4213D"/>
                </a:solidFill>
                <a:ea typeface="Microsoft JhengHei"/>
              </a:rPr>
              <a:t>RFSoC_RX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0236" y="2441448"/>
            <a:ext cx="2109978" cy="2295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Top_Architecture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RFDC_Configuration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73134" y="1463040"/>
            <a:ext cx="2567178" cy="338328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01734" y="1645920"/>
            <a:ext cx="21099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100">
                <a:solidFill>
                  <a:srgbClr val="E07A1F"/>
                </a:solidFill>
                <a:ea typeface="Microsoft JhengHei"/>
              </a:rPr>
              <a:t>reference_rev0.12/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01734" y="1947672"/>
            <a:ext cx="21099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4213D"/>
                </a:solidFill>
                <a:ea typeface="Microsoft JhengHei"/>
              </a:rPr>
              <a:t>同事 rev0.12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01734" y="2441448"/>
            <a:ext cx="2109978" cy="2295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DESIGN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SIGNAL_TRANSMISSION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TIMING_SYNC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DESIGN_NOTES × 3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555"/>
                </a:solidFill>
                <a:ea typeface="Microsoft JhengHei"/>
              </a:rPr>
              <a:t>•  原始簡報（本簡報版型）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120640"/>
            <a:ext cx="110916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A4555"/>
                </a:solidFill>
                <a:ea typeface="Microsoft JhengHei"/>
              </a:rPr>
              <a:t>每份 md 旁有同名 docx（docs/tools/mk_all_docx.sh 產生）；索引與閱讀指引見 docs/README.md。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3A4555"/>
                </a:solidFill>
                <a:ea typeface="Microsoft JhengHei"/>
              </a:rPr>
              <a:t>本簡報與產生腳本在 docs/04_Presentation/（make_ppt.py）。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>
                <a:ea typeface="Microsoft JhengHei"/>
              </a:rPr>
              <a:t>下一步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>
                <a:ea typeface="Microsoft JhengHei"/>
              </a:rPr>
              <a:t>上板 bring-up（IF 輸出端）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548640" y="1554480"/>
            <a:ext cx="411480" cy="411480"/>
          </a:xfrm>
          <a:prstGeom prst="ellipse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155448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ea typeface="Microsoft JhengHe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16002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ea typeface="Microsoft JhengHei"/>
              </a:rPr>
              <a:t>燒錄   </a:t>
            </a:r>
            <a:r>
              <a:rPr sz="1500" b="0">
                <a:solidFill>
                  <a:srgbClr val="3A4555"/>
                </a:solidFill>
                <a:ea typeface="Microsoft JhengHei"/>
              </a:rPr>
              <a:t>VU13P（rev0.12）、RFSoC_RX 01 .bit / .ltx、RFSoC_TX 01 BOOT.bin（各用自己的 .ltx）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2304288"/>
            <a:ext cx="411480" cy="41148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304288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ea typeface="Microsoft JhengHe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235000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ea typeface="Microsoft JhengHei"/>
              </a:rPr>
              <a:t>Links   </a:t>
            </a:r>
            <a:r>
              <a:rPr sz="1500" b="0">
                <a:solidFill>
                  <a:srgbClr val="3A4555"/>
                </a:solidFill>
                <a:ea typeface="Microsoft JhengHei"/>
              </a:rPr>
              <a:t>確認 Aurora channel_up；依同事流程 release arstn（z2 → z1）後送一次 SYSREF</a:t>
            </a:r>
          </a:p>
        </p:txBody>
      </p:sp>
      <p:sp>
        <p:nvSpPr>
          <p:cNvPr id="32" name="Oval 31"/>
          <p:cNvSpPr/>
          <p:nvPr/>
        </p:nvSpPr>
        <p:spPr>
          <a:xfrm>
            <a:off x="548640" y="3054096"/>
            <a:ext cx="411480" cy="41148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054096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ea typeface="Microsoft JhengHe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3099815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ea typeface="Microsoft JhengHei"/>
              </a:rPr>
              <a:t>暫存器   </a:t>
            </a:r>
            <a:r>
              <a:rPr sz="1500" b="0">
                <a:solidFill>
                  <a:srgbClr val="3A4555"/>
                </a:solidFill>
                <a:ea typeface="Microsoft JhengHei"/>
              </a:rPr>
              <a:t>xsdb reg_rt.tcl status all：snapshot 計數增加、st_goal_db = −6 dBFS</a:t>
            </a:r>
          </a:p>
        </p:txBody>
      </p:sp>
      <p:sp>
        <p:nvSpPr>
          <p:cNvPr id="35" name="Oval 34"/>
          <p:cNvSpPr/>
          <p:nvPr/>
        </p:nvSpPr>
        <p:spPr>
          <a:xfrm>
            <a:off x="548640" y="3803904"/>
            <a:ext cx="411480" cy="41148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803904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ea typeface="Microsoft JhengHe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384962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ea typeface="Microsoft JhengHei"/>
              </a:rPr>
              <a:t>ADC loopback   </a:t>
            </a:r>
            <a:r>
              <a:rPr sz="1500" b="0">
                <a:solidFill>
                  <a:srgbClr val="3A4555"/>
                </a:solidFill>
                <a:ea typeface="Microsoft JhengHei"/>
              </a:rPr>
              <a:t>signal_source_select = 1，確認 st_power_amp 與輸入位準一致、pf ≈ −6 − input_dBFS</a:t>
            </a:r>
          </a:p>
        </p:txBody>
      </p:sp>
      <p:sp>
        <p:nvSpPr>
          <p:cNvPr id="38" name="Oval 37"/>
          <p:cNvSpPr/>
          <p:nvPr/>
        </p:nvSpPr>
        <p:spPr>
          <a:xfrm>
            <a:off x="548640" y="4553712"/>
            <a:ext cx="411480" cy="41148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5537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ea typeface="Microsoft JhengHe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4599431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ea typeface="Microsoft JhengHei"/>
              </a:rPr>
              <a:t>Aurora   </a:t>
            </a:r>
            <a:r>
              <a:rPr sz="1500" b="0">
                <a:solidFill>
                  <a:srgbClr val="3A4555"/>
                </a:solidFill>
                <a:ea typeface="Microsoft JhengHei"/>
              </a:rPr>
              <a:t>切回 0，Aurora 資料流動時重複，量 8 個 DAC 的 IF 輸出</a:t>
            </a:r>
          </a:p>
        </p:txBody>
      </p:sp>
      <p:sp>
        <p:nvSpPr>
          <p:cNvPr id="41" name="Oval 40"/>
          <p:cNvSpPr/>
          <p:nvPr/>
        </p:nvSpPr>
        <p:spPr>
          <a:xfrm>
            <a:off x="548640" y="5303520"/>
            <a:ext cx="411480" cy="41148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30352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ea typeface="Microsoft JhengHe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53492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ea typeface="Microsoft JhengHei"/>
              </a:rPr>
              <a:t>校正   </a:t>
            </a:r>
            <a:r>
              <a:rPr sz="1500" b="0">
                <a:solidFill>
                  <a:srgbClr val="3A4555"/>
                </a:solidFill>
                <a:ea typeface="Microsoft JhengHei"/>
              </a:rPr>
              <a:t>逐通道量頻響產生 FIR 係數；Delay / Phase / Gain 對齊 8 通道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lectIO C2C">
  <a:themeElements>
    <a:clrScheme name="SelectIO C2C">
      <a:dk1>
        <a:srgbClr val="14213D"/>
      </a:dk1>
      <a:lt1>
        <a:srgbClr val="FFFFFF"/>
      </a:lt1>
      <a:dk2>
        <a:srgbClr val="3A4555"/>
      </a:dk2>
      <a:lt2>
        <a:srgbClr val="EEF1F5"/>
      </a:lt2>
      <a:accent1>
        <a:srgbClr val="E07A1F"/>
      </a:accent1>
      <a:accent2>
        <a:srgbClr val="2B6CB0"/>
      </a:accent2>
      <a:accent3>
        <a:srgbClr val="8FA3BF"/>
      </a:accent3>
      <a:accent4>
        <a:srgbClr val="F0A050"/>
      </a:accent4>
      <a:accent5>
        <a:srgbClr val="D9DDE3"/>
      </a:accent5>
      <a:accent6>
        <a:srgbClr val="C9D3E0"/>
      </a:accent6>
      <a:hlink>
        <a:srgbClr val="2B6CB0"/>
      </a:hlink>
      <a:folHlink>
        <a:srgbClr val="6A4C93"/>
      </a:folHlink>
    </a:clrScheme>
    <a:fontScheme name="SelectIO C2C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995AB6F611BD5B42ACB069EC30893C5C" ma:contentTypeVersion="11" ma:contentTypeDescription="建立新的文件。" ma:contentTypeScope="" ma:versionID="58689c1f183069013ae58af5fc564aa7">
  <xsd:schema xmlns:xsd="http://www.w3.org/2001/XMLSchema" xmlns:xs="http://www.w3.org/2001/XMLSchema" xmlns:p="http://schemas.microsoft.com/office/2006/metadata/properties" xmlns:ns2="578a8419-bbc0-47a4-a3c6-720a018e8497" xmlns:ns3="6d498428-6cde-48a2-879d-4a89366cb878" targetNamespace="http://schemas.microsoft.com/office/2006/metadata/properties" ma:root="true" ma:fieldsID="ffbacfbca2f1d61aa0da95c650aa436b" ns2:_="" ns3:_="">
    <xsd:import namespace="578a8419-bbc0-47a4-a3c6-720a018e8497"/>
    <xsd:import namespace="6d498428-6cde-48a2-879d-4a89366cb8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8a8419-bbc0-47a4-a3c6-720a018e84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影像標籤" ma:readOnly="false" ma:fieldId="{5cf76f15-5ced-4ddc-b409-7134ff3c332f}" ma:taxonomyMulti="true" ma:sspId="02101972-a6c5-4c31-bb3e-e3281ef70ee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498428-6cde-48a2-879d-4a89366cb87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76c8427-ec86-4c17-be33-9597a1133047}" ma:internalName="TaxCatchAll" ma:showField="CatchAllData" ma:web="6d498428-6cde-48a2-879d-4a89366cb87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78a8419-bbc0-47a4-a3c6-720a018e8497">
      <Terms xmlns="http://schemas.microsoft.com/office/infopath/2007/PartnerControls"/>
    </lcf76f155ced4ddcb4097134ff3c332f>
    <TaxCatchAll xmlns="6d498428-6cde-48a2-879d-4a89366cb878" xsi:nil="true"/>
  </documentManagement>
</p:properties>
</file>

<file path=customXml/itemProps1.xml><?xml version="1.0" encoding="utf-8"?>
<ds:datastoreItem xmlns:ds="http://schemas.openxmlformats.org/officeDocument/2006/customXml" ds:itemID="{CFAB8E8C-64A3-4CA0-872E-C40AFB8E0DE3}"/>
</file>

<file path=customXml/itemProps2.xml><?xml version="1.0" encoding="utf-8"?>
<ds:datastoreItem xmlns:ds="http://schemas.openxmlformats.org/officeDocument/2006/customXml" ds:itemID="{7804DB63-2FE6-4497-AF38-1553AEF0A31B}"/>
</file>

<file path=customXml/itemProps3.xml><?xml version="1.0" encoding="utf-8"?>
<ds:datastoreItem xmlns:ds="http://schemas.openxmlformats.org/officeDocument/2006/customXml" ds:itemID="{31BF9733-2A41-4D6B-A7B2-7096758C8A85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SelectIO C2C Link Design</dc:title>
  <dc:subject>PptxGenJS Presentation</dc:subject>
  <dc:creator>jxense.com</dc:creator>
  <cp:lastModifiedBy>jxense.com</cp:lastModifiedBy>
  <cp:revision>1</cp:revision>
  <dcterms:created xsi:type="dcterms:W3CDTF">2026-10-13T13:14:32Z</dcterms:created>
  <dcterms:modified xsi:type="dcterms:W3CDTF">2026-10-13T13:14:32Z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0x010100995AB6F611BD5B42ACB069EC30893C5C</vt:lpwstr>
  </property>
</Properties>
</file>