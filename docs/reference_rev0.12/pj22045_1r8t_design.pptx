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6"/>
    <p:sldId id="272" r:id="rId5"/>
    <p:sldId id="273" r:id="rId4"/>
    <p:sldId id="274" r:id="rId3"/>
    <p:sldId id="275" r:id="rId2"/>
    <p:sldId id="276" r:id="rId27"/>
    <p:sldId id="277" r:id="rId28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6c63444-13da-5e27-155c-32cb4b703263}">
          <p14:sldIdLst>
            <p14:sldId id="256"/>
            <p14:sldId id="257"/>
          </p14:sldIdLst>
        </p14:section>
        <p14:section name="Architecture" id="{8ecb4c05-5462-28d5-43fc-083b2f6d6e6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otocol" id="{ee21d822-9475-fb75-b7d8-63f75117b473}">
          <p14:sldIdLst>
            <p14:sldId id="265"/>
            <p14:sldId id="266"/>
            <p14:sldId id="267"/>
            <p14:sldId id="268"/>
            <p14:sldId id="269"/>
          </p14:sldIdLst>
        </p14:section>
        <p14:section name="Performance" id="{82e7cdfb-8bf8-0f87-29cd-cc30a65ccadd}">
          <p14:sldIdLst>
            <p14:sldId id="270"/>
          </p14:sldIdLst>
        </p14:section>
        <p14:section name="Board and build" id="{b7c1a543-64e6-d8a4-ba0c-6a9ec92ecb99}">
          <p14:sldIdLst>
            <p14:sldId id="271"/>
            <p14:sldId id="272"/>
            <p14:sldId id="273"/>
          </p14:sldIdLst>
        </p14:section>
        <p14:section name="Status" id="{9a90bfa0-02f4-9467-b3c2-d4074106e25e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>
                <a:solidFill>
                  <a:srgbClr val="14213D"/>
                </a:solidFill>
              </a:rPr>
              <a:t>Link cycles per packet time (4 µs)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Link cycles per 4 µs</c:v>
                </c:pt>
              </c:strCache>
            </c:strRef>
          </c:tx>
          <c:dPt>
            <c:idx val="0"/>
            <c:spPr>
              <a:solidFill>
                <a:srgbClr val="2B6CB0"/>
              </a:solidFill>
            </c:spPr>
          </c:dPt>
          <c:dPt>
            <c:idx val="1"/>
            <c:spPr>
              <a:solidFill>
                <a:srgbClr val="E07A1F"/>
              </a:solidFill>
            </c:spPr>
          </c:dPt>
          <c:dPt>
            <c:idx val="2"/>
            <c:spPr>
              <a:solidFill>
                <a:srgbClr val="8FA3BF"/>
              </a:solidFill>
            </c:spPr>
          </c:dPt>
          <c:cat>
            <c:strRef>
              <c:f>Sheet1!$A$2:$A$4</c:f>
              <c:strCache>
                <c:ptCount val="3"/>
                <c:pt idx="0">
                  <c:v>ADC samples</c:v>
                </c:pt>
                <c:pt idx="1">
                  <c:v>Header + framing</c:v>
                </c:pt>
                <c:pt idx="2">
                  <c:v>Headroom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1280.0</c:v>
                </c:pt>
                <c:pt idx="1">
                  <c:v>2.5</c:v>
                </c:pt>
                <c:pt idx="2">
                  <c:v>270.5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1109167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jxense.com · 14 October 2026 · source: docs/DESIGN.md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PJ22045 1R8T Aurora relay · design rev 0.12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AURORA RELAY · DESIGN REV 0.12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PJ22045 1R8T Relay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One RFSoC ADC stream, broadcast by a VU13P to eight RFSoC DACs over Aurora 64B66B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4340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</a:rPr>
              <a:t>1 → 8 broadcast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34340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434340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 × 25.625 Gb/s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34340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40-bit timestamps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34340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3A4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43434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No FIFO 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One ADC stream, eight time-aligned DACs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08760"/>
            <a:ext cx="2569464" cy="17373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45919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6CB0"/>
                </a:solidFill>
              </a:rPr>
              <a:t>40.96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423160"/>
            <a:ext cx="2112264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Gb/s of ADC samples carried on every link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2424" y="1508760"/>
            <a:ext cx="2569464" cy="17373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1645919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6CB0"/>
                </a:solidFill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2423160"/>
            <a:ext cx="2112264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DAC outputs fed from one z1 ADC channel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7" y="1508760"/>
            <a:ext cx="2569464" cy="17373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1645919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6CB0"/>
                </a:solidFill>
              </a:rPr>
              <a:t>82.6 %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2423160"/>
            <a:ext cx="2112264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link load, 17 % headroom on 2 × 25.625 Gb/s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9992" y="1508760"/>
            <a:ext cx="2569464" cy="17373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645919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6CB0"/>
                </a:solidFill>
              </a:rPr>
              <a:t>2.0 µs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423160"/>
            <a:ext cx="2112264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default ADC → DAC latency (delay + 1 cycle)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3566160"/>
          <a:ext cx="11091671" cy="182880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7799831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How the design meets it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</a:rPr>
                        <a:t>1 ADC stream → 8 DACs (1R8T)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4555"/>
                          </a:solidFill>
                        </a:rPr>
                        <a:t>z1 X0Y1 core 1 → VU13P X1Y8 core 1 → broadcaster 1 → 8 → z2, one DAC per Aurora core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</a:rPr>
                        <a:t>160-bit samples on 128-bit Aurora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4555"/>
                          </a:solidFill>
                        </a:rPr>
                        <a:t>header_insertion / header_extraction with a 64-bit header per 1024 samples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</a:rPr>
                        <a:t>Output at the correct time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4555"/>
                          </a:solidFill>
                        </a:rPr>
                        <a:t>40-bit timers on z1 and z2 started by one SYSREF; data_delay + data_aligner on z2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13D"/>
                          </a:solidFill>
                        </a:rPr>
                        <a:t>All links identical, no FIFO loss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A4555"/>
                          </a:solidFill>
                        </a:rPr>
                        <a:t>same FIFO / slice per link; FIFO budget simulated with real depths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One 47DR in, one VU13P, one 47DR out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08760"/>
            <a:ext cx="3017520" cy="329184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91639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F0A050"/>
                </a:solidFill>
              </a:rPr>
              <a:t>TRANSMITTER · Z1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65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ZU47DR · z1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560320"/>
            <a:ext cx="256032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ADC tile 0 ch 0, I/Q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160 b @ 256 MHz + 40-bit time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Aurora X0Y1 core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Other 7 ADCs loop back to own DAC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1508760"/>
            <a:ext cx="3017520" cy="329184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1691639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F0A050"/>
                </a:solidFill>
              </a:rPr>
              <a:t>RELAY · BROADCAST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1965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VU13P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560320"/>
            <a:ext cx="256032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RX X1Y8 core 1 (quad 228)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SLR crossing at 400 MHz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Broadcaster 1 → 8, no tready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TX X1Y4–X1Y7, cores 0 + 1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1508760"/>
            <a:ext cx="3044952" cy="329184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1691639"/>
            <a:ext cx="2587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F0A050"/>
                </a:solidFill>
              </a:rPr>
              <a:t>RECEIVER · Z2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1965960"/>
            <a:ext cx="2587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ZU47DR · z2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560320"/>
            <a:ext cx="2587752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8 Aurora cores X0Y1–X0Y4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Extract 128 → 160 b + tuser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Delay + align to z2 timer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DE3EC"/>
                </a:solidFill>
              </a:rPr>
              <a:t>•  DAC s00 s02 s10 s12 s20 s22 s30 s32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611880" y="3154680"/>
            <a:ext cx="914400" cy="411480"/>
          </a:xfrm>
          <a:prstGeom prst="rightArrow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4448" y="2743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</a:rPr>
              <a:t>1 link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635240" y="274320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7635240" y="315468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7635240" y="3566160"/>
            <a:ext cx="914400" cy="292608"/>
          </a:xfrm>
          <a:prstGeom prst="rightArrow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23317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</a:rPr>
              <a:t>8 links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07A1F"/>
                </a:solidFill>
              </a:rPr>
              <a:t>Orange: </a:t>
            </a:r>
            <a:r>
              <a:rPr sz="1400" b="0">
                <a:solidFill>
                  <a:srgbClr val="3A4555"/>
                </a:solidFill>
              </a:rPr>
              <a:t>the z1 ADC stream (one 2-lane Aurora). </a:t>
            </a:r>
            <a:r>
              <a:rPr sz="1400" b="1">
                <a:solidFill>
                  <a:srgbClr val="2B6CB0"/>
                </a:solidFill>
              </a:rPr>
              <a:t>Blue: </a:t>
            </a:r>
            <a:r>
              <a:rPr sz="1400" b="0">
                <a:solidFill>
                  <a:srgbClr val="3A4555"/>
                </a:solidFill>
              </a:rPr>
              <a:t>eight 2-lane Auroras to z2, all carrying the same samples. Every link: Aurora 64B66B, Framing, 2 × 25.625 Gb/s, 156.25 MHz refclk.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Link plan: 8 Aurora cores per side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508760"/>
          <a:ext cx="11091671" cy="2962656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2057400"/>
                <a:gridCol w="1783080"/>
                <a:gridCol w="2240280"/>
                <a:gridCol w="1325880"/>
                <a:gridCol w="2084831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z1 quad (bank)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z1 lanes C0 / C1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VU13P quad (bank)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VU13P lanes C0 / C1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z2 quad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X0Y1 (128)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X0Y4-5 / X0Y6-7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X1Y8 (228)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X1Y32-33 / X1Y34-35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ADC stream on core 1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X0Y2 (129)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X0Y8-9 / X0Y10-11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X1Y9 (229)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X1Y36-37 / X1Y38-39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link only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X0Y3 (130)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X0Y12-13 / X0Y14-15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X1Y10 (230)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X1Y40-41 / X1Y42-43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link only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X0Y4 (131)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X0Y16-17 / X0Y18-19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X1Y11 (231)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X1Y44-45 / X1Y46-47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link only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X1Y4 (224)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X1Y16-17 / X1Y18-19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X0Y1 (128)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broadcast M00 / M01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X1Y5 (225)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X1Y20-21 / X1Y22-23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X0Y2 (129)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broadcast M02 / M03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X1Y6 (226)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X1Y24-25 / X1Y26-27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X0Y3 (130)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broadcast M04 / M05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X1Y7 (227)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X1Y28-29 / X1Y30-31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X0Y4 (131)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broadcast M06 / M07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5029200"/>
            <a:ext cx="5440680" cy="11887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Reference clocks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49834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VU13P AW9 AT11 AM11 AH11 AD11 Y11 T11 M11 · ZU47DR AA33 W33 U33 P31 (golden IBERT)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029200"/>
            <a:ext cx="5440680" cy="11887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523036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Not yet proven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650992"/>
            <a:ext cx="49834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Lane pairing C0↔C0 / C1↔C1 is assumed straight; IBERT confirms the quad pairing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How a sample travels from ADC to DAC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463040"/>
            <a:ext cx="3017520" cy="27889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508760"/>
            <a:ext cx="287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1F"/>
                </a:solidFill>
              </a:rPr>
              <a:t>z1 · FPGA_clk 256 MHz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1463040"/>
            <a:ext cx="1417320" cy="27889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1508760"/>
            <a:ext cx="1271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</a:rPr>
              <a:t>Aurora user_clk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1463040"/>
            <a:ext cx="2331720" cy="27889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1508760"/>
            <a:ext cx="2185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</a:rPr>
              <a:t>VU13P · 400 MHz fabric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463040"/>
            <a:ext cx="1417320" cy="27889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2" y="1508760"/>
            <a:ext cx="1271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</a:rPr>
              <a:t>Aurora user_clk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1463040"/>
            <a:ext cx="2724912" cy="27889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1508760"/>
            <a:ext cx="2578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1F"/>
                </a:solidFill>
              </a:rPr>
              <a:t>z2 · FPGA_clk 256 MHz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RFDC ADC</a:t>
            </a:r>
          </a:p>
          <a:p>
            <a:pPr algn="ctr"/>
            <a:r>
              <a:rPr sz="800">
                <a:solidFill>
                  <a:srgbClr val="3A4555"/>
                </a:solidFill>
              </a:rPr>
              <a:t>m00 / m01</a:t>
            </a:r>
          </a:p>
          <a:p>
            <a:pPr algn="ctr"/>
            <a:r>
              <a:rPr sz="800">
                <a:solidFill>
                  <a:srgbClr val="3A4555"/>
                </a:solidFill>
              </a:rPr>
              <a:t>2 × 80 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27632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Combine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160 b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+ tuser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15184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Packetize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1024 / pkt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tlast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Header in</a:t>
            </a:r>
          </a:p>
          <a:p>
            <a:pPr algn="ctr"/>
            <a:r>
              <a:rPr sz="800">
                <a:solidFill>
                  <a:srgbClr val="C9D3E0"/>
                </a:solidFill>
              </a:rPr>
              <a:t>160 → 128 b</a:t>
            </a:r>
          </a:p>
          <a:p>
            <a:pPr algn="ctr"/>
            <a:r>
              <a:rPr sz="800">
                <a:solidFill>
                  <a:srgbClr val="C9D3E0"/>
                </a:solidFill>
              </a:rPr>
              <a:t>64 b header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66360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RX FIFO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rx_fifo_c1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512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Broadcast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1 → 8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no tready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2011680"/>
            <a:ext cx="896112" cy="914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Header out</a:t>
            </a:r>
          </a:p>
          <a:p>
            <a:pPr algn="ctr"/>
            <a:r>
              <a:rPr sz="800">
                <a:solidFill>
                  <a:srgbClr val="C9D3E0"/>
                </a:solidFill>
              </a:rPr>
              <a:t>128 → 160 b</a:t>
            </a:r>
          </a:p>
          <a:p>
            <a:pPr algn="ctr"/>
            <a:r>
              <a:rPr sz="800">
                <a:solidFill>
                  <a:srgbClr val="C9D3E0"/>
                </a:solidFill>
              </a:rPr>
              <a:t>tuser = hdr+k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2011680"/>
            <a:ext cx="841248" cy="91440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data_delay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due =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t + delay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21240" y="2011680"/>
            <a:ext cx="841248" cy="91440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FIFO 1024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hold until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due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35640" y="2011680"/>
            <a:ext cx="777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14213D"/>
                </a:solidFill>
              </a:rPr>
              <a:t>Aligner</a:t>
            </a:r>
          </a:p>
          <a:p>
            <a:pPr algn="ctr"/>
            <a:r>
              <a:rPr sz="800">
                <a:solidFill>
                  <a:srgbClr val="3A4555"/>
                </a:solidFill>
              </a:rPr>
              <a:t>release</a:t>
            </a:r>
          </a:p>
          <a:p>
            <a:pPr algn="ctr"/>
            <a:r>
              <a:rPr sz="800">
                <a:solidFill>
                  <a:srgbClr val="3A4555"/>
                </a:solidFill>
              </a:rPr>
              <a:t>→ DAC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36192" y="2468880"/>
            <a:ext cx="9144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23744" y="2468880"/>
            <a:ext cx="9144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511296" y="2468880"/>
            <a:ext cx="192024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9432" y="2468880"/>
            <a:ext cx="566928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62472" y="2468880"/>
            <a:ext cx="201168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59752" y="2468880"/>
            <a:ext cx="384048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39912" y="2468880"/>
            <a:ext cx="566928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848088" y="2468880"/>
            <a:ext cx="73152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762488" y="2468880"/>
            <a:ext cx="73152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703320" y="3200400"/>
            <a:ext cx="896112" cy="73152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Aurora TX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X0Y1 C1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66360" y="3200400"/>
            <a:ext cx="896112" cy="73152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Aurora RX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X1Y8 C1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3200400"/>
            <a:ext cx="896112" cy="73152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Aurora TX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8 cores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3200400"/>
            <a:ext cx="896112" cy="73152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Aurora RX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z2 C0/C1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51376" y="2926080"/>
            <a:ext cx="0" cy="27432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99432" y="3566160"/>
            <a:ext cx="566928" cy="0"/>
          </a:xfrm>
          <a:prstGeom prst="line">
            <a:avLst/>
          </a:prstGeom>
          <a:ln w="25400">
            <a:solidFill>
              <a:srgbClr val="E0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14416" y="2926080"/>
            <a:ext cx="0" cy="27432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711696" y="2926080"/>
            <a:ext cx="0" cy="27432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59752" y="3566160"/>
            <a:ext cx="384048" cy="0"/>
          </a:xfrm>
          <a:prstGeom prst="line">
            <a:avLst/>
          </a:prstGeom>
          <a:ln w="25400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991856" y="2926080"/>
            <a:ext cx="0" cy="27432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48640" y="4480560"/>
            <a:ext cx="3566160" cy="16916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4681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Time in the header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102352"/>
            <a:ext cx="31089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The 40-bit time of the first sample travels in the header; z2 adds the beat index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15968" y="4480560"/>
            <a:ext cx="3566160" cy="16916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44568" y="4681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Same samples on 8 links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44568" y="5102352"/>
            <a:ext cx="31089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The broadcaster copies every 128-bit beat, header and tlast to all eight TX cores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74152" y="4480560"/>
            <a:ext cx="3566160" cy="16916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02752" y="4681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Played at a fixed latency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02752" y="5102352"/>
            <a:ext cx="31089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Each z2 sample leaves when the z2 timer = its time + axi_delay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PROTOCOL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Packet format: 160 b over 128 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ip 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1600200"/>
            <a:ext cx="822960" cy="548640"/>
          </a:xfrm>
          <a:prstGeom prst="rect">
            <a:avLst/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16002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</a:rPr>
              <a:t>type 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1600200"/>
            <a:ext cx="2103120" cy="54864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160020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time · 40 bits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1600200"/>
            <a:ext cx="7342631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600200"/>
            <a:ext cx="73426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samples 0 … 1023 · 1024 × 160 bits (5 I/Q pairs each)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2402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header · 64 bits, once per packet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240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tlast on the last beat · Aurora Framing carries it over both hops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48640" y="2743200"/>
          <a:ext cx="6766560" cy="2688336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47548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Sample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160 b = {Q4,I4,…,Q0,I0}, 16 bit each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Rate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1.28 GSPS complex = 256 MHz × 5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tuser (z1 and z2)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{24’b0, time[39:0]}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Packet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64 + 1024 × 160 b = 1280.5 beats of 128 b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Overhead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header 0.04 % · ≈ 1282.5 link cycles / 4 µs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Recovered tuser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header time + beat index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7589520" y="2743200"/>
            <a:ext cx="4050791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944368"/>
            <a:ext cx="3593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Half beat carried 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3364992"/>
            <a:ext cx="3593591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A packet is 1280.5 beats; the half beat goes into the next packet, so packets depend on each other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4389120"/>
            <a:ext cx="4050791" cy="13258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590288"/>
            <a:ext cx="35935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Proposed: 1022 samples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5010912"/>
            <a:ext cx="359359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64 + 1022 × 160 b = 1278 whole beats; a lost packet then costs only its own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PROTOCOL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Each DAC plays at timestamp + delay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291840" cy="452628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91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A050"/>
                </a:solidFill>
              </a:rPr>
              <a:t>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DE3EC"/>
                </a:solidFill>
              </a:rPr>
              <a:t>•  z1 and z2 FPGA_clk from one reference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DE3EC"/>
                </a:solidFill>
              </a:rPr>
              <a:t>•  one SYSREF pulse seen by both boards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DE3EC"/>
                </a:solidFill>
              </a:rPr>
              <a:t>•  release z2 arstn, then z1, then SYSREF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DE3EC"/>
                </a:solidFill>
              </a:rPr>
              <a:t>•  delay &gt; path latency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DDE3EC"/>
                </a:solidFill>
              </a:rPr>
              <a:t>•  delay − latency &lt; ≈ 1000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3E0"/>
                </a:solidFill>
              </a:rPr>
              <a:t>100 ppm clock offset = 25 600 samples/s of drift: the z2 FIFO overflows in &lt; 50 ms</a:t>
            </a:r>
          </a:p>
        </p:txBody>
      </p:sp>
      <p:sp>
        <p:nvSpPr>
          <p:cNvPr id="30" name="Oval 29"/>
          <p:cNvSpPr/>
          <p:nvPr/>
        </p:nvSpPr>
        <p:spPr>
          <a:xfrm>
            <a:off x="4160520" y="1508760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15087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52544" y="1892807"/>
            <a:ext cx="0" cy="365761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0" y="149047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Start   </a:t>
            </a:r>
            <a:r>
              <a:rPr sz="1300" b="0">
                <a:solidFill>
                  <a:srgbClr val="3A4555"/>
                </a:solidFill>
              </a:rPr>
              <a:t>First PL SYSREF after arstn sets start on both boards; both 40-bit timers count from 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152704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1527048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t = 0</a:t>
            </a:r>
          </a:p>
        </p:txBody>
      </p:sp>
      <p:sp>
        <p:nvSpPr>
          <p:cNvPr id="36" name="Oval 35"/>
          <p:cNvSpPr/>
          <p:nvPr/>
        </p:nvSpPr>
        <p:spPr>
          <a:xfrm>
            <a:off x="4160520" y="2258568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22585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52544" y="2642615"/>
            <a:ext cx="0" cy="365760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0" y="2240279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Stamp   </a:t>
            </a:r>
            <a:r>
              <a:rPr sz="1300" b="0">
                <a:solidFill>
                  <a:srgbClr val="3A4555"/>
                </a:solidFill>
              </a:rPr>
              <a:t>z1 tags each 160-bit sample with its timer value (tuser).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2276856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2276856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every clock</a:t>
            </a:r>
          </a:p>
        </p:txBody>
      </p:sp>
      <p:sp>
        <p:nvSpPr>
          <p:cNvPr id="42" name="Oval 41"/>
          <p:cNvSpPr/>
          <p:nvPr/>
        </p:nvSpPr>
        <p:spPr>
          <a:xfrm>
            <a:off x="4160520" y="3008376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30083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352544" y="3392424"/>
            <a:ext cx="0" cy="365760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54880" y="299008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Carry   </a:t>
            </a:r>
            <a:r>
              <a:rPr sz="1300" b="0">
                <a:solidFill>
                  <a:srgbClr val="3A4555"/>
                </a:solidFill>
              </a:rPr>
              <a:t>The first time of each packet rides in the 64-bit header.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3026664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3026664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1 / 1024</a:t>
            </a:r>
          </a:p>
        </p:txBody>
      </p:sp>
      <p:sp>
        <p:nvSpPr>
          <p:cNvPr id="48" name="Oval 47"/>
          <p:cNvSpPr/>
          <p:nvPr/>
        </p:nvSpPr>
        <p:spPr>
          <a:xfrm>
            <a:off x="4160520" y="3758183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0520" y="3758183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52544" y="4142231"/>
            <a:ext cx="0" cy="365761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754880" y="373989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Rebuild   </a:t>
            </a:r>
            <a:r>
              <a:rPr sz="1300" b="0">
                <a:solidFill>
                  <a:srgbClr val="3A4555"/>
                </a:solidFill>
              </a:rPr>
              <a:t>z2 header_extraction: tuser = header time + beat index.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0" y="3776471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776471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per beat</a:t>
            </a:r>
          </a:p>
        </p:txBody>
      </p:sp>
      <p:sp>
        <p:nvSpPr>
          <p:cNvPr id="54" name="Oval 53"/>
          <p:cNvSpPr/>
          <p:nvPr/>
        </p:nvSpPr>
        <p:spPr>
          <a:xfrm>
            <a:off x="4160520" y="4507992"/>
            <a:ext cx="384048" cy="38404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0520" y="45079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352544" y="4892040"/>
            <a:ext cx="0" cy="365760"/>
          </a:xfrm>
          <a:prstGeom prst="line">
            <a:avLst/>
          </a:prstGeom>
          <a:ln w="12700">
            <a:solidFill>
              <a:srgbClr val="8FA3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754880" y="448970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Delay   </a:t>
            </a:r>
            <a:r>
              <a:rPr sz="1300" b="0">
                <a:solidFill>
                  <a:srgbClr val="3A4555"/>
                </a:solidFill>
              </a:rPr>
              <a:t>data_delay: due = time + axi_delay (0xA008_0000, default 512).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0" y="4526279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4526279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2.0 µs</a:t>
            </a:r>
          </a:p>
        </p:txBody>
      </p:sp>
      <p:sp>
        <p:nvSpPr>
          <p:cNvPr id="60" name="Oval 59"/>
          <p:cNvSpPr/>
          <p:nvPr/>
        </p:nvSpPr>
        <p:spPr>
          <a:xfrm>
            <a:off x="4160520" y="5257800"/>
            <a:ext cx="384048" cy="384048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5257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523951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</a:rPr>
              <a:t>Release   </a:t>
            </a:r>
            <a:r>
              <a:rPr sz="1300" b="0">
                <a:solidFill>
                  <a:srgbClr val="3A4555"/>
                </a:solidFill>
              </a:rPr>
              <a:t>data_aligner outputs the sample when the z2 timer = due; zeros before that.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41280" y="5276088"/>
            <a:ext cx="1399032" cy="36576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0" y="5276088"/>
            <a:ext cx="1399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delay + 1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TIME BASE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One time base: two timers, one SYSREF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08760"/>
            <a:ext cx="11091672" cy="2331720"/>
          </a:xfrm>
          <a:prstGeom prst="roundRect">
            <a:avLst>
              <a:gd name="adj" fmla="val 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169164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14213D"/>
                </a:solidFill>
              </a:rPr>
              <a:t>PL SYSREF</a:t>
            </a:r>
          </a:p>
          <a:p>
            <a:pPr algn="ctr"/>
            <a:r>
              <a:rPr sz="800">
                <a:solidFill>
                  <a:srgbClr val="14213D"/>
                </a:solidFill>
              </a:rPr>
              <a:t>one pulse, both 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1554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213D"/>
                </a:solidFill>
              </a:rPr>
              <a:t>z1 timer_1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81528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48456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15383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2312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16168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3096" y="1828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8836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stamps every sample: tuser = {24’b0, time}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213D"/>
                </a:solidFill>
              </a:rPr>
              <a:t>z2 timer_1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81528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48456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15383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82312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49240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6168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83096" y="2971800"/>
            <a:ext cx="502920" cy="384048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30266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drives all 8 data_aligners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2194560"/>
            <a:ext cx="0" cy="960120"/>
          </a:xfrm>
          <a:prstGeom prst="line">
            <a:avLst/>
          </a:prstGeom>
          <a:ln w="25400">
            <a:solidFill>
              <a:srgbClr val="E0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" y="3163824"/>
            <a:ext cx="1554480" cy="0"/>
          </a:xfrm>
          <a:prstGeom prst="line">
            <a:avLst/>
          </a:prstGeom>
          <a:ln w="25400">
            <a:solidFill>
              <a:srgbClr val="E0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40280" y="1938528"/>
            <a:ext cx="228600" cy="0"/>
          </a:xfrm>
          <a:prstGeom prst="line">
            <a:avLst/>
          </a:prstGeom>
          <a:ln w="25400">
            <a:solidFill>
              <a:srgbClr val="E07A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51560" y="237744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A4555"/>
                </a:solidFill>
              </a:rPr>
              <a:t>start = 1 on the</a:t>
            </a:r>
          </a:p>
          <a:p>
            <a:pPr algn="l"/>
            <a:r>
              <a:rPr sz="1000" b="0">
                <a:solidFill>
                  <a:srgbClr val="3A4555"/>
                </a:solidFill>
              </a:rPr>
              <a:t>next 256 MHz edge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48640" y="4069080"/>
          <a:ext cx="6400800" cy="182880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42976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timer_1 (timer.v)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40-bit counter, +1 per FPGA_clk (3.906 ns) while start = 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sync_pulse_to_level_1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start = 1 on the first SYSREF after arstn, then stays 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xpm_cdc_gen_1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axi_gpio_arstn (0xA001_0000) → irstn on FPGA_clk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wrap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2⁴⁰ counts = 71.6 min, same cycle on both boards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7178040" y="4069080"/>
            <a:ext cx="4462272" cy="210312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4206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0A050"/>
                </a:solidFill>
              </a:rPr>
              <a:t>Start sequence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466344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1  arstn = 0 on z1 and z2 (timers held at 0)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2  release z2, then z1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3  one PL SYSREF to both boards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→ both timers count from 0 in the same 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TIME BASE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Latency: T on z1 → T + delay + 1 on z2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z1 stamps</a:t>
            </a:r>
          </a:p>
          <a:p>
            <a:pPr algn="ctr"/>
            <a:r>
              <a:rPr sz="1000">
                <a:solidFill>
                  <a:srgbClr val="C9D3E0"/>
                </a:solidFill>
              </a:rPr>
              <a:t>T = 1000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20240" y="20345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488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4213D"/>
                </a:solidFill>
              </a:rPr>
              <a:t>header</a:t>
            </a:r>
          </a:p>
          <a:p>
            <a:pPr algn="ctr"/>
            <a:r>
              <a:rPr sz="1000">
                <a:solidFill>
                  <a:srgbClr val="14213D"/>
                </a:solidFill>
              </a:rPr>
              <a:t>time 0, index 1000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20440" y="2034540"/>
            <a:ext cx="228599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49039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4213D"/>
                </a:solidFill>
              </a:rPr>
              <a:t>VU13P</a:t>
            </a:r>
          </a:p>
          <a:p>
            <a:pPr algn="ctr"/>
            <a:r>
              <a:rPr sz="1000">
                <a:solidFill>
                  <a:srgbClr val="14213D"/>
                </a:solidFill>
              </a:rPr>
              <a:t>forwards, no timer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20640" y="20345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492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z2 rebuilds</a:t>
            </a:r>
          </a:p>
          <a:p>
            <a:pPr algn="ctr"/>
            <a:r>
              <a:rPr sz="1000">
                <a:solidFill>
                  <a:srgbClr val="C9D3E0"/>
                </a:solidFill>
              </a:rPr>
              <a:t>time = 1000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20840" y="20345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494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4213D"/>
                </a:solidFill>
              </a:rPr>
              <a:t>data_delay</a:t>
            </a:r>
          </a:p>
          <a:p>
            <a:pPr algn="ctr"/>
            <a:r>
              <a:rPr sz="1000">
                <a:solidFill>
                  <a:srgbClr val="14213D"/>
                </a:solidFill>
              </a:rPr>
              <a:t>due = 1512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1040" y="20345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5496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4213D"/>
                </a:solidFill>
              </a:rPr>
              <a:t>FIFO</a:t>
            </a:r>
          </a:p>
          <a:p>
            <a:pPr algn="ctr"/>
            <a:r>
              <a:rPr sz="1000">
                <a:solidFill>
                  <a:srgbClr val="14213D"/>
                </a:solidFill>
              </a:rPr>
              <a:t>waits ≈ 500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21240" y="20345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49840" y="1600200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aligner</a:t>
            </a:r>
          </a:p>
          <a:p>
            <a:pPr algn="ctr"/>
            <a:r>
              <a:rPr sz="1000">
                <a:solidFill>
                  <a:srgbClr val="E3E8EF"/>
                </a:solidFill>
              </a:rPr>
              <a:t>DAC at 1513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60604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Example with delay = 0x200 = 512: all eight z2 outputs release this sample in the same cycle, 513 × 3.906 ns = 2.004 µs after capture.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8640" y="3108960"/>
          <a:ext cx="5669280" cy="2304288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34747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 (delay 512)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ADC → DAC latency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(delay + 1) × 3.906 ns = 2.004 µs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Samples held in z2 FIFO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delay − transport (sim: 504 / 1024)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Valid delay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transport &lt; delay &lt; transport + ≈ 1000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Late sample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sent at once (timing lost)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Wrap (71.6 min)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epoch bit in the aligner: no glitch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446520" y="3108960"/>
          <a:ext cx="5193792" cy="2304288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267919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→ recovery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Clocks not from one reference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timers drift → fix clock tree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Different SYSREF pulses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constant offset → restart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One board reset alone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z1: output stops · z2: unscheduled → restart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Lost packet / time jump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see open items → restart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delay lowered while running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output stops → change at arstn = 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Restart = arstn 0 on both, release z2 then z1, one SYSREF. ILA probes per hier_rx: timestamp, sys_time, data_time, end_time.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z1: ADC 00 out, seven loopbacks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508760"/>
          <a:ext cx="6035040" cy="3456432"/>
        </p:xfrm>
        <a:graphic>
          <a:graphicData uri="http://schemas.openxmlformats.org/drawingml/2006/table">
            <a:tbl>
              <a:tblPr firstRow="0" bandRow="0"/>
              <a:tblGrid>
                <a:gridCol w="1417320"/>
                <a:gridCol w="2514600"/>
                <a:gridCol w="21031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ADC ch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Combiner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Destination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00 (I/Q)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→ S_AXIS_X0Y1_C1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axi_stream_combininp_adc02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s02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axi_stream_combininp_adc10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s10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12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axi_stream_combininp_adc12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s12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22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axi_stream_combininp_adc22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s22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30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axi_stream_combininp_adc30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s30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32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axi_stream_combininp_adc32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DAC s32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858000" y="1508760"/>
            <a:ext cx="4782312" cy="21488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1709928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Link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148839"/>
            <a:ext cx="43251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axis_packetizer_0 → S_AXIS_X0Y1_C1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tx_c1: cdc_fifo 16 → header_insertion → out_fifo 16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aurora_x0y1_1 · lanes X0Y6-7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840480"/>
            <a:ext cx="478231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041648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Removed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480560"/>
            <a:ext cx="43251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PARAM_RECORDER, phase_calibration, pulse generator, debug VIOs; DAC s00 and Aurora RX unused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663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RFDC: 3.84 GSPS, ×3 decimation, NCO +0.84 GHz; the combiner’s interleaved I/Q word is the format the DAC expects.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VU13P: receive once, send eight times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hier_x1y8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Aurora core 1 RX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quad 228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94560" y="21488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23160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14213D"/>
                </a:solidFill>
              </a:rPr>
              <a:t>link_x1y8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rx_slice_c1 →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rx_fifo_c1 512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9080" y="2148840"/>
            <a:ext cx="228599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97679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14213D"/>
                </a:solidFill>
              </a:rPr>
              <a:t>axis_slr_x1y8_to_tx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Multi-SLR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crossing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599" y="21488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72199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14213D"/>
                </a:solidFill>
              </a:rPr>
              <a:t>axis_broadcaster_0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1 → 8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no tready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18119" y="2148840"/>
            <a:ext cx="228600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46719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14213D"/>
                </a:solidFill>
              </a:rPr>
              <a:t>link_x1y4..7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tx_fifo_c0/c1 512</a:t>
            </a:r>
          </a:p>
          <a:p>
            <a:pPr algn="ctr"/>
            <a:r>
              <a:rPr sz="900">
                <a:solidFill>
                  <a:srgbClr val="14213D"/>
                </a:solidFill>
              </a:rPr>
              <a:t>→ tx_slice (SLR)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92640" y="2148840"/>
            <a:ext cx="228599" cy="0"/>
          </a:xfrm>
          <a:prstGeom prst="line">
            <a:avLst/>
          </a:prstGeom>
          <a:ln w="15875">
            <a:solidFill>
              <a:srgbClr val="3A4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921240" y="16002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hier_x1y4..7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8 Aurora TX</a:t>
            </a:r>
          </a:p>
          <a:p>
            <a:pPr algn="ctr"/>
            <a:r>
              <a:rPr sz="900">
                <a:solidFill>
                  <a:srgbClr val="E3E8EF"/>
                </a:solidFill>
              </a:rPr>
              <a:t>quads 224–227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</a:rPr>
              <a:t>user_clk (quad 228)   →   axis_aclk 400 MHz (clk_wiz_0)   →   user_clk (quads 224–227)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29184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4930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Uniform links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931920"/>
            <a:ext cx="310896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Every quad X1Y4…X1Y11: hier_x1yN (2 cores) + an identical link_x1yN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329184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4568" y="34930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Independent outputs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3931920"/>
            <a:ext cx="310896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No back-pressure from the broadcaster: a stalled or down z2 link only loses its own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4152" y="329184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34930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Fast enough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3931920"/>
            <a:ext cx="310896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Fabric 128 b × 400 MHz = 51.2 Gb/s, above the 49.7 Gb/s link: the RX FIFO never fills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Also kept: the 13P↔13P link (X0Y11 / X0Y13), not part of the 1R8T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z2: eight links, eight DACs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508760"/>
          <a:ext cx="5669280" cy="19202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Container port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hier_rx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DAC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M_AXIS_X0Y1_C0 / C1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hier_rx_x0y1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s10 / s12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M_AXIS_X0Y2_C0 / C1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hier_rx_x0y2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s00 / s02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M_AXIS_X0Y3_C0 / C1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hier_rx_x0y3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s20 / s22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M_AXIS_X0Y4_C0 / C1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hier_rx_x0y4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s30 / s32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3703320"/>
          <a:ext cx="5669280" cy="2432304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24688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AXI peripheral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Address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DMA_Ctrl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0xA000_0000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axi_gpio_arstn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0xA001_0000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axi_gpio_pma_rst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0xA002_0000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axi_intc_0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0xA003_0000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usp_rf_data_converter_1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0xA004_0000 (256 K)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axi_delay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07A1F"/>
                          </a:solidFill>
                        </a:rPr>
                        <a:t>0xA008_0000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92240" y="1508760"/>
            <a:ext cx="5148072" cy="23317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1709928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Per core in hier_rx_x0yN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148839"/>
            <a:ext cx="4690872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data_delay → axis_data_fifo (1024) → data_aligner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ILAs on data_time, sys_time, end_time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DAC tile 3 configured like tile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023360"/>
            <a:ext cx="5148072" cy="21031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224528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axi_delay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663440"/>
            <a:ext cx="46908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32-bit AXI GPIO, default 0x200 = 512 cycles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drives the delay of all four hier_rx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reset by irstn: release arstn before writing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VIVADO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Every name follows the connectivity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2" cy="292608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6309360"/>
                <a:gridCol w="267919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GT ports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GT_SERIAL_TX/RX_&lt;QUAD&gt;_C&lt;n&gt;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GT_SERIAL_TX_X0Y1_C1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Container data ports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S_AXIS_&lt;QUAD&gt;_C&lt;n&gt; → core n TX · M_AXIS_&lt;QUAD&gt;_C&lt;n&gt; ← core n RX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M_AXIS_X1Y8_C1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Quad hierarchy pins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GT_SERIAL_TX/RX_C&lt;n&gt;, S_AXIS_TX_C&lt;n&gt;, M_AXIS_RX_C&lt;n&gt;, GT_REFCLK, arstn_c&lt;n&gt;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hier_x1y4/GT_REFCLK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TX / RX / link pins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S/M_AXIS_TX_C&lt;n&gt;, S/M_AXIS_RX_C&lt;n&gt;, user_clk, axis_aclk, arstn_c&lt;n&gt;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link_x1y8/M_AXIS_RX_C1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Cells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tx_c&lt;n&gt;, rx_c&lt;n&gt;, tx_fifo_c&lt;n&gt;, rx_slice_c&lt;n&gt;, user_rst_sync_c&lt;n&gt;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link_x1y4/tx_fifo_c0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Wires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driver name &lt;cell&gt;_&lt;pin&gt;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rx_fifo_c1_M_AXIS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RF ports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converter pin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vout02 = DAC tile 0 ch 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484632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474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Misleading names removed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68112"/>
            <a:ext cx="4983480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4555"/>
                </a:solidFill>
              </a:rPr>
              <a:t>S_AXIS_X0Y1 fed core 1 · every VU13P refclk pin was gt_x1y8_diff_ref · wires named after other quads · vout01 was DAC ch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846320"/>
            <a:ext cx="5440680" cy="13716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504748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Checked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468112"/>
            <a:ext cx="4983480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A4555"/>
                </a:solidFill>
              </a:rPr>
              <a:t>144/144 ports match their traced core · net counts unchanged · all BDs validate · XDC ports present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Link load 82.6 %, 17 % headroom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554480"/>
          <a:ext cx="3931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846320" y="1600200"/>
          <a:ext cx="6793992" cy="3072384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4325112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ADC payload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160 b × 256 MHz = 40.96 Gb/s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Header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64 b per 1024 samples = +0.04 %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Per packet on the link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1280.5 beats + separator + stall ≈ 1282.5 cycles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Link payload capacity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2 × 25.625 Gb/s × 64/66 = 49.7 Gb/s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Link utilisation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07A1F"/>
                          </a:solidFill>
                        </a:rPr>
                        <a:t>≈ 82.6 %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VU13P fabric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128 b × 400 MHz = 51.2 Gb/s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End-to-end latency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delay + 1 cycles (default 2.0 µs)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846320" y="4846320"/>
            <a:ext cx="67939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Clock compensation (≈ 0.06 %) and the 64b/66b gearbox pause are inside the 49.7 Gb/s figure. The doughnut counts one 4 µs packet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FIFOs: no loss up to a 1.6 µs stall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7315200" cy="3145536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914400"/>
                <a:gridCol w="1097280"/>
                <a:gridCol w="1234440"/>
                <a:gridCol w="1417320"/>
              </a:tblGrid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FIFO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 µs stall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3 µs stall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z1 tx_c1/cdc_fifo *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z1 tx_c1/out_fifo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16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VU13P rx_fifo_c1 *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VU13P tx_fifo_c&lt;n&gt; *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512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07A1F"/>
                          </a:solidFill>
                        </a:rPr>
                        <a:t>321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1C1C"/>
                          </a:solidFill>
                        </a:rPr>
                        <a:t>512 · loss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z2 rx_c&lt;n&gt;/in_fifo *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z2 rx_c&lt;n&gt;/cdc_fifo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512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259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411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z2 hier_rx FIFO *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1024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504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1C1C"/>
                          </a:solidFill>
                        </a:rPr>
                        <a:t>1024 · loss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* upstream ignores tready (RFDC, Aurora RX, broadcaster, data_delay): a full FIFO here loses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63040"/>
            <a:ext cx="350215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66420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Normal: no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084832"/>
            <a:ext cx="3044952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Every FIFO stays near empty; the hold FIFO keeps exactly the delay (504)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108960"/>
            <a:ext cx="3502152" cy="146304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31012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1 µs stall: no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30752"/>
            <a:ext cx="3044952" cy="704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VU13P TX peaks at 321/512, z2 latency stays constant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754880"/>
            <a:ext cx="3502152" cy="141732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95604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3 µs stall: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376672"/>
            <a:ext cx="304495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TX FIFO overflows, that z2 output breaks until reset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6636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555"/>
                </a:solidFill>
              </a:rPr>
              <a:t>Simulated with real RTL and depths, Aurora gearbox / clock-compensation / frame-separator pauses and independent clocks (scripts/sim_chain/run_fifo.sh).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VERIFICATION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Simulation confirms exact timing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2" cy="378561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6309360"/>
                <a:gridCol w="1307592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End-to-end, delay 512 and 200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every sample at the DAC exactly delay + 1 cycles after its z1 timestamp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855A"/>
                          </a:solidFill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40-bit timer wrap (71.6 min)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latency constant through 0xFF_FFFF_FFFF → 0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855A"/>
                          </a:solidFill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FIFO budget, normal and 1 µs stall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no loss, peak 321 / 512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855A"/>
                          </a:solidFill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Block designs (all 3 projects)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validate clean after the naming pass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855A"/>
                          </a:solidFill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RFDC configuration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z1 ADC and z2 DAC: 3.84 GSPS, ×3, NCO ±0.84 GHz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855A"/>
                          </a:solidFill>
                        </a:rPr>
                        <a:t>PASS</a:t>
                      </a:r>
                    </a:p>
                  </a:txBody>
                  <a:tcPr marL="91440" marR="91440" marT="36576" marB="36576" anchor="ctr">
                    <a:solidFill>
                      <a:srgbClr val="E3E8E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delay 1400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hold FIFO overflow (expected: limit §6.7)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07A1F"/>
                          </a:solidFill>
                        </a:rPr>
                        <a:t>LIMIT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1 lost packet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word misalignment until reset; OK with 1022 samples / packet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1C1C"/>
                          </a:solidFill>
                        </a:rPr>
                        <a:t>OPEN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13D"/>
                          </a:solidFill>
                        </a:rPr>
                        <a:t>2 lost packets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4555"/>
                          </a:solidFill>
                        </a:rPr>
                        <a:t>data_delay guard freezes the time until reset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1C1C"/>
                          </a:solidFill>
                        </a:rPr>
                        <a:t>OPEN</a:t>
                      </a:r>
                    </a:p>
                  </a:txBody>
                  <a:tcPr marL="91440" marR="91440" marT="36576" marB="36576" anchor="ctr">
                    <a:solidFill>
                      <a:srgbClr val="FDF1E6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scripts/sim_chain/run.sh &lt;delay&gt; [wrap] [lost_packets] [packet_length] · real RTL of packetizer, header insertion/extraction, data_delay, data_aligner, timer.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All three bitstreams meet timing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569464" cy="1600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00200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+0.011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377440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ns setup slack · VU13P relay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2424" y="1463040"/>
            <a:ext cx="2569464" cy="1600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1600200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+0.008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2377440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ns setup slack · z1 (47dr1)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7" y="1463040"/>
            <a:ext cx="2569464" cy="1600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1600200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+0.023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2377440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ns setup slack · z2 (47dr2)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9992" y="1463040"/>
            <a:ext cx="2569464" cy="1600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600200"/>
            <a:ext cx="211226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6CB0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377440"/>
            <a:ext cx="2112264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failing endpoints; hold +0.010 ns on all three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3291840"/>
          <a:ext cx="11091672" cy="192024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3520440"/>
                <a:gridCol w="2642616"/>
                <a:gridCol w="264261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VU13P · relay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z1 · 47dr1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z2 · 47dr2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GT / refclk placement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40 GTs X1Y16–47 (+13P↔13P) · refclks = golden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16 GTs X0Y4–19 · = golden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16 GTs X0Y4–19 · = golden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LUT / FF / BRAM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3.3 % / 4.7 % / 18.4 %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14.7 % / 10.1 % / 20.8 %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21.3 % / 16.1 % / 46.9 %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DRC / methodology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warnings · TIMING-4/27 (inherited clk_wiz)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warnings only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warnings only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Outputs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aurora_gty_vu13p_rst_wrapper.bit + .ltx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design_1_wrapper.bit + .ltx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design_1_wrapper.bit + .ltx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</a:rPr>
              <a:t>Vivado 2025.2 with debug ILAs. VU13P: build #6 (rev 0.12, core-1 reset fix D19; was +0.025 ns in build #5), GT placement unchanged. z1 / z2: build #5 (rev 0.11). Release: PJ22045_1R8T_release_rev0.12_20261014.tar.gz.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DEBUG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An ILA on every hop of the stream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463040"/>
          <a:ext cx="11091672" cy="2633472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2651760"/>
                <a:gridCol w="1737360"/>
                <a:gridCol w="2834640"/>
                <a:gridCol w="2862072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Board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ILA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Clock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Slots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 marL="91440" marR="91440" marT="36576" marB="36576" anchor="ctr">
                    <a:solidFill>
                      <a:srgbClr val="14213D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z1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system_ila_1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FPGA_clk 256 MHz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ADC combiner · packetizer (tuser)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samples + timestamps before the link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z1 / z2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ila_x0y1 … ila_x0y4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quad user_clk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TX C0/C1 · RX C0/C1 (2048 deep)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z1 ADC stream = ila_x0y1 TX C1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VU13P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ila_x1y4 … ila_x1y11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quad user_clk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TX C0/C1 · RX C0/C1 (2048 deep)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received stream = ila_x1y8 RX C1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VU13P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ila_bcast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axis_aclk 400 MHz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broadcaster in + M00…M07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tready = 0 → that link's TX FIFO full</a:t>
                      </a:r>
                    </a:p>
                  </a:txBody>
                  <a:tcPr marL="91440" marR="91440" marT="36576" marB="36576" anchor="ctr">
                    <a:solidFill>
                      <a:srgbClr val="EEF1F5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</a:rPr>
                        <a:t>z2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hier_rx_x0yN/system_ila_0/1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FPGA_clk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delay · FIFO · aligner + times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A4555"/>
                          </a:solidFill>
                        </a:rPr>
                        <a:t>release at sys_time = data_time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9DDE3"/>
                      </a:solidFill>
                    </a:lnL>
                    <a:lnR w="9525" cap="flat" cmpd="sng" algn="ctr">
                      <a:solidFill>
                        <a:srgbClr val="D9DDE3"/>
                      </a:solidFill>
                    </a:lnR>
                    <a:lnT w="9525" cap="flat" cmpd="sng" algn="ctr">
                      <a:solidFill>
                        <a:srgbClr val="D9DDE3"/>
                      </a:solidFill>
                    </a:lnT>
                    <a:lnB w="9525" cap="flat" cmpd="sng" algn="ctr">
                      <a:solidFill>
                        <a:srgbClr val="D9DD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4456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Follow one packet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65192"/>
            <a:ext cx="49834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Trigger on tlast: z1 ila_x0y1 → VU13P ila_x1y8 → ila_bcast → ila_x1y4..7 → z2 ila_x0yN → hier_rx ILAs; the header beat carries the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343400"/>
            <a:ext cx="5440680" cy="17830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54456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</a:rPr>
              <a:t>Always 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965192"/>
            <a:ext cx="49834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ILA resets are left open, so they keep capturing while a link is down (link-loss debugging). Load each bitstream with its own .ltx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REV 0.12 · D19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Core-1 link reset fixed on the VU13P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pic>
        <p:nvPicPr>
          <p:cNvPr id="26" name="Picture 25" descr="st_rst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1672" cy="273025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48640" y="4434840"/>
            <a:ext cx="3566160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8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quads rewired and checked in the built netlist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434840"/>
            <a:ext cx="3566160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4572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+0.011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5349240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ns setup slack after the rebuild (hold +0.010)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4434840"/>
            <a:ext cx="3566160" cy="155448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4572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F855A"/>
                </a:solidFill>
              </a:rPr>
              <a:t>= golden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5349240"/>
            <a:ext cx="310896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555"/>
                </a:solidFill>
              </a:rPr>
              <a:t>GT and refclk placement unchanged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DOCUMENTS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Three documents, full detail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DOCS/DESIGN.DOCX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984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459736"/>
            <a:ext cx="3108960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System design, requirements, decisions D1–D20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Bring-up, ILAs, release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18 figures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1463040"/>
            <a:ext cx="3566160" cy="45720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DOCS/…DOCX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1984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</a:rPr>
              <a:t>SIGNAL_TRANSMISSION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2423160"/>
            <a:ext cx="3108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Every block on the path, RTL and IP configuration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Links, flow control, FIFOs, start-up, errors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13 figures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1463040"/>
            <a:ext cx="3566160" cy="45720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664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DOCS/…DOCX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1984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</a:rPr>
              <a:t>TIMING_SYNC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2459736"/>
            <a:ext cx="3108960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Time base, SYSREF, stamping, rebuild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data_delay / data_aligner cycle by cycle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Latency, alignment, failure modes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A4555"/>
                </a:solidFill>
              </a:rPr>
              <a:t>•  8 figures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OPEN ITEMS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Packet loss needs a reset: 3 fixes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5087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2996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</a:rPr>
              <a:t>P1 · 1022 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505456"/>
            <a:ext cx="310896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Packet = 1278 whole beats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A lost packet costs only its samples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Verified in simulation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15087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17099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TIMESTAMPS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202996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</a:rPr>
              <a:t>P2 · resync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2505456"/>
            <a:ext cx="310896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data_delay freezes on a jump &gt; delay + 1024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Resync on the next header instead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15087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7099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E07A1F"/>
                </a:solidFill>
              </a:rPr>
              <a:t>PROCEDURE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029967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</a:rPr>
              <a:t>P3 · bring-up order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2505456"/>
            <a:ext cx="310896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links up → z2 arstn → z1 arstn → SYSREF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3A4555"/>
                </a:solidFill>
              </a:rPr>
              <a:t>•  repeat after any link drop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80560"/>
            <a:ext cx="11091672" cy="164592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81728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Also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20640"/>
            <a:ext cx="106344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•  Common reference for z1/z2 FPGA_clk and one shared SYSREF are mandatory; PL_SYSREF capture is not timed (D20, check on hardware)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•  Lowering axi_delay or resetting one board while running stops or unschedules the output: change delay only in reset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DDE3EC"/>
                </a:solidFill>
              </a:rPr>
              <a:t>•  Clean-ups: data_delay.v tuser slice, clk_wiz TIMING-4/27 (inherited)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Bring up three boards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15910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Bitstreams   </a:t>
            </a:r>
            <a:r>
              <a:rPr sz="1600" b="0">
                <a:solidFill>
                  <a:srgbClr val="3A4555"/>
                </a:solidFill>
              </a:rPr>
              <a:t>built and timing-clean: &lt;proj&gt;.runs/impl_1/*.bit + .ltx (rebuild: run_build.sh &lt;proj&gt;)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2304288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30428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234086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Program   </a:t>
            </a:r>
            <a:r>
              <a:rPr sz="1600" b="0">
                <a:solidFill>
                  <a:srgbClr val="3A4555"/>
                </a:solidFill>
              </a:rPr>
              <a:t>VU13P, then z1 and z2, each with its own .bit + .ltx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054096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05409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0906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Links   </a:t>
            </a:r>
            <a:r>
              <a:rPr sz="1600" b="0">
                <a:solidFill>
                  <a:srgbClr val="3A4555"/>
                </a:solidFill>
              </a:rPr>
              <a:t>channel_up on the core-status VIOs: VU13P X1Y8 C1 and X1Y4–X1Y7, z2 X0Y1–X0Y4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3803904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80390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3840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Delay   </a:t>
            </a:r>
            <a:r>
              <a:rPr sz="1600" b="0">
                <a:solidFill>
                  <a:srgbClr val="3A4555"/>
                </a:solidFill>
              </a:rPr>
              <a:t>write axi_delay (0xA008_0000) on z2; default 0x200 = 2 µs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4553712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5537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59028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Start   </a:t>
            </a:r>
            <a:r>
              <a:rPr sz="1600" b="0">
                <a:solidFill>
                  <a:srgbClr val="3A4555"/>
                </a:solidFill>
              </a:rPr>
              <a:t>release arstn on z2, then z1; one SYSREF to both boards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340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</a:rPr>
              <a:t>Check   </a:t>
            </a:r>
            <a:r>
              <a:rPr sz="1600" b="0">
                <a:solidFill>
                  <a:srgbClr val="3A4555"/>
                </a:solidFill>
              </a:rPr>
              <a:t>ILAs: start offset z1 ↔ z2 = 0, transport latency, release at sys_time = data_time, no gaps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ectIO C2C">
  <a:themeElements>
    <a:clrScheme name="SelectIO C2C">
      <a:dk1>
        <a:srgbClr val="14213D"/>
      </a:dk1>
      <a:lt1>
        <a:srgbClr val="FFFFFF"/>
      </a:lt1>
      <a:dk2>
        <a:srgbClr val="3A4555"/>
      </a:dk2>
      <a:lt2>
        <a:srgbClr val="EEF1F5"/>
      </a:lt2>
      <a:accent1>
        <a:srgbClr val="E07A1F"/>
      </a:accent1>
      <a:accent2>
        <a:srgbClr val="2B6CB0"/>
      </a:accent2>
      <a:accent3>
        <a:srgbClr val="8FA3BF"/>
      </a:accent3>
      <a:accent4>
        <a:srgbClr val="F0A050"/>
      </a:accent4>
      <a:accent5>
        <a:srgbClr val="D9DDE3"/>
      </a:accent5>
      <a:accent6>
        <a:srgbClr val="C9D3E0"/>
      </a:accent6>
      <a:hlink>
        <a:srgbClr val="2B6CB0"/>
      </a:hlink>
      <a:folHlink>
        <a:srgbClr val="6A4C93"/>
      </a:folHlink>
    </a:clrScheme>
    <a:fontScheme name="SelectIO C2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 C2C Link Design</dc:title>
  <dc:subject>PptxGenJS Presentation</dc:subject>
  <dc:creator>jxense.com</dc:creator>
  <cp:lastModifiedBy>jxense.com</cp:lastModifiedBy>
  <cp:revision>1</cp:revision>
  <dcterms:created xsi:type="dcterms:W3CDTF">2026-10-13T13:14:32Z</dcterms:created>
  <dcterms:modified xsi:type="dcterms:W3CDTF">2026-10-13T13:14:32Z</dcterms:modified>
</cp:coreProperties>
</file>